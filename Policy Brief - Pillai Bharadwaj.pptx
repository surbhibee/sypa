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10896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2191695" cy="54864"/>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7772400" cy="594360"/>
          </a:xfrm>
          <a:prstGeom prst="rect">
            <a:avLst/>
          </a:prstGeom>
          <a:noFill/>
        </p:spPr>
        <p:txBody>
          <a:bodyPr wrap="square"/>
          <a:lstStyle/>
          <a:p>
            <a:pPr algn="l">
              <a:spcBef>
                <a:spcPts val="0"/>
              </a:spcBef>
              <a:spcAft>
                <a:spcPts val="0"/>
              </a:spcAft>
              <a:defRPr sz="3200" b="1" i="0">
                <a:solidFill>
                  <a:srgbClr val="FFFFFF"/>
                </a:solidFill>
                <a:latin typeface="Calibri"/>
              </a:defRPr>
            </a:pPr>
            <a:r>
              <a:t>Unlocking India’s AI Potential</a:t>
            </a:r>
          </a:p>
        </p:txBody>
      </p:sp>
      <p:sp>
        <p:nvSpPr>
          <p:cNvPr id="5" name="TextBox 4"/>
          <p:cNvSpPr txBox="1"/>
          <p:nvPr/>
        </p:nvSpPr>
        <p:spPr>
          <a:xfrm>
            <a:off x="548640" y="914400"/>
            <a:ext cx="7772400" cy="457200"/>
          </a:xfrm>
          <a:prstGeom prst="rect">
            <a:avLst/>
          </a:prstGeom>
          <a:noFill/>
        </p:spPr>
        <p:txBody>
          <a:bodyPr wrap="square"/>
          <a:lstStyle/>
          <a:p>
            <a:pPr algn="l">
              <a:spcBef>
                <a:spcPts val="0"/>
              </a:spcBef>
              <a:spcAft>
                <a:spcPts val="0"/>
              </a:spcAft>
              <a:defRPr sz="1800" b="0" i="0">
                <a:solidFill>
                  <a:srgbClr val="FF9933"/>
                </a:solidFill>
                <a:latin typeface="Calibri"/>
              </a:defRPr>
            </a:pPr>
            <a:r>
              <a:t>Evaluation of IndiaAI Mission’s Common Compute Facility</a:t>
            </a:r>
          </a:p>
        </p:txBody>
      </p:sp>
      <p:sp>
        <p:nvSpPr>
          <p:cNvPr id="6" name="TextBox 5"/>
          <p:cNvSpPr txBox="1"/>
          <p:nvPr/>
        </p:nvSpPr>
        <p:spPr>
          <a:xfrm>
            <a:off x="548640" y="1508760"/>
            <a:ext cx="7315200" cy="320040"/>
          </a:xfrm>
          <a:prstGeom prst="rect">
            <a:avLst/>
          </a:prstGeom>
          <a:noFill/>
        </p:spPr>
        <p:txBody>
          <a:bodyPr wrap="square"/>
          <a:lstStyle/>
          <a:p>
            <a:pPr algn="l">
              <a:spcBef>
                <a:spcPts val="0"/>
              </a:spcBef>
              <a:spcAft>
                <a:spcPts val="0"/>
              </a:spcAft>
              <a:defRPr sz="1100" b="0" i="0">
                <a:solidFill>
                  <a:srgbClr val="BBBBBB"/>
                </a:solidFill>
                <a:latin typeface="Calibri"/>
              </a:defRPr>
            </a:pPr>
            <a:r>
              <a:t>Prateek Pillai &amp; Surbhi Bharadwaj  |  Harvard Kennedy School  |  February 2026</a:t>
            </a:r>
          </a:p>
        </p:txBody>
      </p:sp>
      <p:sp>
        <p:nvSpPr>
          <p:cNvPr id="7" name="Rounded Rectangle 6"/>
          <p:cNvSpPr/>
          <p:nvPr/>
        </p:nvSpPr>
        <p:spPr>
          <a:xfrm>
            <a:off x="8778240" y="365760"/>
            <a:ext cx="1463040" cy="1051560"/>
          </a:xfrm>
          <a:prstGeom prst="roundRect">
            <a:avLst/>
          </a:prstGeom>
          <a:solidFill>
            <a:srgbClr val="142D5E"/>
          </a:solidFill>
          <a:ln>
            <a:solidFill>
              <a:srgbClr val="FF9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0" y="411480"/>
            <a:ext cx="1463040" cy="548640"/>
          </a:xfrm>
          <a:prstGeom prst="rect">
            <a:avLst/>
          </a:prstGeom>
          <a:noFill/>
        </p:spPr>
        <p:txBody>
          <a:bodyPr wrap="square"/>
          <a:lstStyle/>
          <a:p>
            <a:pPr algn="ctr">
              <a:spcBef>
                <a:spcPts val="0"/>
              </a:spcBef>
              <a:spcAft>
                <a:spcPts val="0"/>
              </a:spcAft>
              <a:defRPr sz="2600" b="1" i="0">
                <a:solidFill>
                  <a:srgbClr val="FF9933"/>
                </a:solidFill>
                <a:latin typeface="Calibri"/>
              </a:defRPr>
            </a:pPr>
            <a:r>
              <a:t>34,000+</a:t>
            </a:r>
          </a:p>
        </p:txBody>
      </p:sp>
      <p:sp>
        <p:nvSpPr>
          <p:cNvPr id="9" name="TextBox 8"/>
          <p:cNvSpPr txBox="1"/>
          <p:nvPr/>
        </p:nvSpPr>
        <p:spPr>
          <a:xfrm>
            <a:off x="8778240" y="868680"/>
            <a:ext cx="1463040" cy="502920"/>
          </a:xfrm>
          <a:prstGeom prst="rect">
            <a:avLst/>
          </a:prstGeom>
          <a:noFill/>
        </p:spPr>
        <p:txBody>
          <a:bodyPr wrap="square"/>
          <a:lstStyle/>
          <a:p>
            <a:pPr algn="ctr">
              <a:spcBef>
                <a:spcPts val="0"/>
              </a:spcBef>
              <a:spcAft>
                <a:spcPts val="0"/>
              </a:spcAft>
              <a:defRPr sz="1000" b="0" i="0">
                <a:solidFill>
                  <a:srgbClr val="FFFFFF"/>
                </a:solidFill>
                <a:latin typeface="Calibri"/>
              </a:defRPr>
            </a:pPr>
            <a:r>
              <a:t>GPUs</a:t>
            </a:r>
            <a:br/>
            <a:r>
              <a:t>Empanelled</a:t>
            </a:r>
          </a:p>
        </p:txBody>
      </p:sp>
      <p:sp>
        <p:nvSpPr>
          <p:cNvPr id="10" name="Rounded Rectangle 9"/>
          <p:cNvSpPr/>
          <p:nvPr/>
        </p:nvSpPr>
        <p:spPr>
          <a:xfrm>
            <a:off x="10424160" y="365760"/>
            <a:ext cx="1463040" cy="1051560"/>
          </a:xfrm>
          <a:prstGeom prst="roundRect">
            <a:avLst/>
          </a:prstGeom>
          <a:solidFill>
            <a:srgbClr val="142D5E"/>
          </a:solidFill>
          <a:ln>
            <a:solidFill>
              <a:srgbClr val="FF9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0" y="411480"/>
            <a:ext cx="1463040" cy="548640"/>
          </a:xfrm>
          <a:prstGeom prst="rect">
            <a:avLst/>
          </a:prstGeom>
          <a:noFill/>
        </p:spPr>
        <p:txBody>
          <a:bodyPr wrap="square"/>
          <a:lstStyle/>
          <a:p>
            <a:pPr algn="ctr">
              <a:spcBef>
                <a:spcPts val="0"/>
              </a:spcBef>
              <a:spcAft>
                <a:spcPts val="0"/>
              </a:spcAft>
              <a:defRPr sz="2600" b="1" i="0">
                <a:solidFill>
                  <a:srgbClr val="E86C00"/>
                </a:solidFill>
                <a:latin typeface="Calibri"/>
              </a:defRPr>
            </a:pPr>
            <a:r>
              <a:t>&lt;50%</a:t>
            </a:r>
          </a:p>
        </p:txBody>
      </p:sp>
      <p:sp>
        <p:nvSpPr>
          <p:cNvPr id="12" name="TextBox 11"/>
          <p:cNvSpPr txBox="1"/>
          <p:nvPr/>
        </p:nvSpPr>
        <p:spPr>
          <a:xfrm>
            <a:off x="10424160" y="868680"/>
            <a:ext cx="1463040" cy="502920"/>
          </a:xfrm>
          <a:prstGeom prst="rect">
            <a:avLst/>
          </a:prstGeom>
          <a:noFill/>
        </p:spPr>
        <p:txBody>
          <a:bodyPr wrap="square"/>
          <a:lstStyle/>
          <a:p>
            <a:pPr algn="ctr">
              <a:spcBef>
                <a:spcPts val="0"/>
              </a:spcBef>
              <a:spcAft>
                <a:spcPts val="0"/>
              </a:spcAft>
              <a:defRPr sz="1000" b="0" i="0">
                <a:solidFill>
                  <a:srgbClr val="FFFFFF"/>
                </a:solidFill>
                <a:latin typeface="Calibri"/>
              </a:defRPr>
            </a:pPr>
            <a:r>
              <a:t>Capacity</a:t>
            </a:r>
            <a:br/>
            <a:r>
              <a:t>Utilized</a:t>
            </a:r>
          </a:p>
        </p:txBody>
      </p:sp>
      <p:sp>
        <p:nvSpPr>
          <p:cNvPr id="13" name="Rounded Rectangle 12"/>
          <p:cNvSpPr/>
          <p:nvPr/>
        </p:nvSpPr>
        <p:spPr>
          <a:xfrm>
            <a:off x="8778240" y="1600200"/>
            <a:ext cx="1463040" cy="1051560"/>
          </a:xfrm>
          <a:prstGeom prst="roundRect">
            <a:avLst/>
          </a:prstGeom>
          <a:solidFill>
            <a:srgbClr val="142D5E"/>
          </a:solidFill>
          <a:ln>
            <a:solidFill>
              <a:srgbClr val="FF9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1645920"/>
            <a:ext cx="1463040" cy="548640"/>
          </a:xfrm>
          <a:prstGeom prst="rect">
            <a:avLst/>
          </a:prstGeom>
          <a:noFill/>
        </p:spPr>
        <p:txBody>
          <a:bodyPr wrap="square"/>
          <a:lstStyle/>
          <a:p>
            <a:pPr algn="ctr">
              <a:spcBef>
                <a:spcPts val="0"/>
              </a:spcBef>
              <a:spcAft>
                <a:spcPts val="0"/>
              </a:spcAft>
              <a:defRPr sz="2600" b="1" i="0">
                <a:solidFill>
                  <a:srgbClr val="FF9933"/>
                </a:solidFill>
                <a:latin typeface="Calibri"/>
              </a:defRPr>
            </a:pPr>
            <a:r>
              <a:t>$1.25B</a:t>
            </a:r>
          </a:p>
        </p:txBody>
      </p:sp>
      <p:sp>
        <p:nvSpPr>
          <p:cNvPr id="15" name="TextBox 14"/>
          <p:cNvSpPr txBox="1"/>
          <p:nvPr/>
        </p:nvSpPr>
        <p:spPr>
          <a:xfrm>
            <a:off x="8778240" y="2103120"/>
            <a:ext cx="1463040" cy="502920"/>
          </a:xfrm>
          <a:prstGeom prst="rect">
            <a:avLst/>
          </a:prstGeom>
          <a:noFill/>
        </p:spPr>
        <p:txBody>
          <a:bodyPr wrap="square"/>
          <a:lstStyle/>
          <a:p>
            <a:pPr algn="ctr">
              <a:spcBef>
                <a:spcPts val="0"/>
              </a:spcBef>
              <a:spcAft>
                <a:spcPts val="0"/>
              </a:spcAft>
              <a:defRPr sz="1000" b="0" i="0">
                <a:solidFill>
                  <a:srgbClr val="FFFFFF"/>
                </a:solidFill>
                <a:latin typeface="Calibri"/>
              </a:defRPr>
            </a:pPr>
            <a:r>
              <a:t>Mission</a:t>
            </a:r>
            <a:br/>
            <a:r>
              <a:t>Budget (5yr)</a:t>
            </a:r>
          </a:p>
        </p:txBody>
      </p:sp>
      <p:sp>
        <p:nvSpPr>
          <p:cNvPr id="16" name="Rounded Rectangle 15"/>
          <p:cNvSpPr/>
          <p:nvPr/>
        </p:nvSpPr>
        <p:spPr>
          <a:xfrm>
            <a:off x="10424160" y="1600200"/>
            <a:ext cx="1463040" cy="1051560"/>
          </a:xfrm>
          <a:prstGeom prst="roundRect">
            <a:avLst/>
          </a:prstGeom>
          <a:solidFill>
            <a:srgbClr val="142D5E"/>
          </a:solidFill>
          <a:ln>
            <a:solidFill>
              <a:srgbClr val="FF99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0" y="1645920"/>
            <a:ext cx="1463040" cy="548640"/>
          </a:xfrm>
          <a:prstGeom prst="rect">
            <a:avLst/>
          </a:prstGeom>
          <a:noFill/>
        </p:spPr>
        <p:txBody>
          <a:bodyPr wrap="square"/>
          <a:lstStyle/>
          <a:p>
            <a:pPr algn="ctr">
              <a:spcBef>
                <a:spcPts val="0"/>
              </a:spcBef>
              <a:spcAft>
                <a:spcPts val="0"/>
              </a:spcAft>
              <a:defRPr sz="2600" b="1" i="0">
                <a:solidFill>
                  <a:srgbClr val="E86C00"/>
                </a:solidFill>
                <a:latin typeface="Calibri"/>
              </a:defRPr>
            </a:pPr>
            <a:r>
              <a:t>&lt;200</a:t>
            </a:r>
          </a:p>
        </p:txBody>
      </p:sp>
      <p:sp>
        <p:nvSpPr>
          <p:cNvPr id="18" name="TextBox 17"/>
          <p:cNvSpPr txBox="1"/>
          <p:nvPr/>
        </p:nvSpPr>
        <p:spPr>
          <a:xfrm>
            <a:off x="10424160" y="2103120"/>
            <a:ext cx="1463040" cy="502920"/>
          </a:xfrm>
          <a:prstGeom prst="rect">
            <a:avLst/>
          </a:prstGeom>
          <a:noFill/>
        </p:spPr>
        <p:txBody>
          <a:bodyPr wrap="square"/>
          <a:lstStyle/>
          <a:p>
            <a:pPr algn="ctr">
              <a:spcBef>
                <a:spcPts val="0"/>
              </a:spcBef>
              <a:spcAft>
                <a:spcPts val="0"/>
              </a:spcAft>
              <a:defRPr sz="1000" b="0" i="0">
                <a:solidFill>
                  <a:srgbClr val="FFFFFF"/>
                </a:solidFill>
                <a:latin typeface="Calibri"/>
              </a:defRPr>
            </a:pPr>
            <a:r>
              <a:t>Registered</a:t>
            </a:r>
            <a:br/>
            <a:r>
              <a:t>Portal Users</a:t>
            </a:r>
          </a:p>
        </p:txBody>
      </p:sp>
      <p:sp>
        <p:nvSpPr>
          <p:cNvPr id="19" name="TextBox 18"/>
          <p:cNvSpPr txBox="1"/>
          <p:nvPr/>
        </p:nvSpPr>
        <p:spPr>
          <a:xfrm>
            <a:off x="548640" y="3383280"/>
            <a:ext cx="3200400" cy="320040"/>
          </a:xfrm>
          <a:prstGeom prst="rect">
            <a:avLst/>
          </a:prstGeom>
          <a:noFill/>
        </p:spPr>
        <p:txBody>
          <a:bodyPr wrap="square"/>
          <a:lstStyle/>
          <a:p>
            <a:pPr algn="l">
              <a:spcBef>
                <a:spcPts val="0"/>
              </a:spcBef>
              <a:spcAft>
                <a:spcPts val="0"/>
              </a:spcAft>
              <a:defRPr sz="1600" b="1" i="0">
                <a:solidFill>
                  <a:srgbClr val="0B1D3A"/>
                </a:solidFill>
                <a:latin typeface="Calibri"/>
              </a:defRPr>
            </a:pPr>
            <a:r>
              <a:t>Summary</a:t>
            </a:r>
          </a:p>
        </p:txBody>
      </p:sp>
      <p:sp>
        <p:nvSpPr>
          <p:cNvPr id="20" name="TextBox 19"/>
          <p:cNvSpPr txBox="1"/>
          <p:nvPr/>
        </p:nvSpPr>
        <p:spPr>
          <a:xfrm>
            <a:off x="548640" y="3749039"/>
            <a:ext cx="5029200" cy="2834640"/>
          </a:xfrm>
          <a:prstGeom prst="rect">
            <a:avLst/>
          </a:prstGeom>
          <a:noFill/>
        </p:spPr>
        <p:txBody>
          <a:bodyPr wrap="square"/>
          <a:lstStyle/>
          <a:p>
            <a:pPr algn="l">
              <a:spcBef>
                <a:spcPts val="0"/>
              </a:spcBef>
              <a:spcAft>
                <a:spcPts val="600"/>
              </a:spcAft>
              <a:defRPr sz="1050" b="0" i="0">
                <a:solidFill>
                  <a:srgbClr val="333333"/>
                </a:solidFill>
                <a:latin typeface="Calibri"/>
              </a:defRPr>
            </a:pPr>
            <a:r>
              <a:t>India’s IndiaAI Mission launched the Common Compute Facility (CCF) to expand access to subsidized GPUs for startups, researchers, and public institutions. Despite empanelling over 34,000 GPUs, less than half of this capacity has been utilized.</a:t>
            </a:r>
          </a:p>
          <a:p>
            <a:pPr algn="l">
              <a:spcBef>
                <a:spcPts val="0"/>
              </a:spcBef>
              <a:spcAft>
                <a:spcPts val="600"/>
              </a:spcAft>
              <a:defRPr sz="1050" b="0" i="0">
                <a:solidFill>
                  <a:srgbClr val="333333"/>
                </a:solidFill>
                <a:latin typeface="Calibri"/>
              </a:defRPr>
            </a:pPr>
            <a:r>
              <a:t>Our analysis identifies two binding constraints: (1) low perceived returns to AI innovation among target users, and (2) administrative frictions in accessing approved compute allocations. Human capital gaps act as an ancillary constraint, while financial costs and infrastructure mismatch are non-binding.</a:t>
            </a:r>
          </a:p>
          <a:p>
            <a:pPr algn="l">
              <a:spcBef>
                <a:spcPts val="0"/>
              </a:spcBef>
              <a:spcAft>
                <a:spcPts val="200"/>
              </a:spcAft>
              <a:defRPr sz="1050" b="1" i="0">
                <a:solidFill>
                  <a:srgbClr val="333333"/>
                </a:solidFill>
                <a:latin typeface="Calibri"/>
              </a:defRPr>
            </a:pPr>
            <a:r>
              <a:t>We recommend two priority reforms: advance government procurement commitments in high-priority domains and time-bound GPU provisioning guarantees to restore credibility and stimulate demand.</a:t>
            </a:r>
          </a:p>
        </p:txBody>
      </p:sp>
      <p:sp>
        <p:nvSpPr>
          <p:cNvPr id="21" name="Rounded Rectangle 20"/>
          <p:cNvSpPr/>
          <p:nvPr/>
        </p:nvSpPr>
        <p:spPr>
          <a:xfrm>
            <a:off x="5852160" y="3337560"/>
            <a:ext cx="2743200" cy="3063240"/>
          </a:xfrm>
          <a:prstGeom prst="roundRect">
            <a:avLst/>
          </a:prstGeom>
          <a:solidFill>
            <a:srgbClr val="D6EAF8"/>
          </a:solidFill>
          <a:ln>
            <a:solidFill>
              <a:srgbClr val="1E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3429000"/>
            <a:ext cx="2377440" cy="320040"/>
          </a:xfrm>
          <a:prstGeom prst="rect">
            <a:avLst/>
          </a:prstGeom>
          <a:noFill/>
        </p:spPr>
        <p:txBody>
          <a:bodyPr wrap="square"/>
          <a:lstStyle/>
          <a:p>
            <a:pPr algn="l">
              <a:spcBef>
                <a:spcPts val="0"/>
              </a:spcBef>
              <a:spcAft>
                <a:spcPts val="0"/>
              </a:spcAft>
              <a:defRPr sz="1400" b="1" i="0">
                <a:solidFill>
                  <a:srgbClr val="0B1D3A"/>
                </a:solidFill>
                <a:latin typeface="Calibri"/>
              </a:defRPr>
            </a:pPr>
            <a:r>
              <a:t>Key Findings</a:t>
            </a:r>
          </a:p>
        </p:txBody>
      </p:sp>
      <p:sp>
        <p:nvSpPr>
          <p:cNvPr id="23" name="TextBox 22"/>
          <p:cNvSpPr txBox="1"/>
          <p:nvPr/>
        </p:nvSpPr>
        <p:spPr>
          <a:xfrm>
            <a:off x="6035040" y="3794760"/>
            <a:ext cx="2468880" cy="2560320"/>
          </a:xfrm>
          <a:prstGeom prst="rect">
            <a:avLst/>
          </a:prstGeom>
          <a:noFill/>
        </p:spPr>
        <p:txBody>
          <a:bodyPr wrap="square"/>
          <a:lstStyle/>
          <a:p>
            <a:pPr algn="l">
              <a:spcBef>
                <a:spcPts val="200"/>
              </a:spcBef>
              <a:spcAft>
                <a:spcPts val="500"/>
              </a:spcAft>
              <a:defRPr sz="950" b="0" i="0">
                <a:solidFill>
                  <a:srgbClr val="333333"/>
                </a:solidFill>
                <a:latin typeface="Calibri"/>
              </a:defRPr>
            </a:pPr>
            <a:r>
              <a:t>• Low perceived returns to AI innovation are the primary constraint to CCF uptake</a:t>
            </a:r>
          </a:p>
          <a:p>
            <a:pPr algn="l">
              <a:spcBef>
                <a:spcPts val="200"/>
              </a:spcBef>
              <a:spcAft>
                <a:spcPts val="500"/>
              </a:spcAft>
              <a:defRPr sz="950" b="0" i="0">
                <a:solidFill>
                  <a:srgbClr val="333333"/>
                </a:solidFill>
                <a:latin typeface="Calibri"/>
              </a:defRPr>
            </a:pPr>
            <a:r>
              <a:t>• Administrative delays in GPU provisioning deter private-sector users and reduce the applicant pool</a:t>
            </a:r>
          </a:p>
          <a:p>
            <a:pPr algn="l">
              <a:spcBef>
                <a:spcPts val="200"/>
              </a:spcBef>
              <a:spcAft>
                <a:spcPts val="500"/>
              </a:spcAft>
              <a:defRPr sz="950" b="0" i="0">
                <a:solidFill>
                  <a:srgbClr val="333333"/>
                </a:solidFill>
                <a:latin typeface="Calibri"/>
              </a:defRPr>
            </a:pPr>
            <a:r>
              <a:t>• Human capital gaps amplify binding constraints but do not independently explain low utilization</a:t>
            </a:r>
          </a:p>
          <a:p>
            <a:pPr algn="l">
              <a:spcBef>
                <a:spcPts val="200"/>
              </a:spcBef>
              <a:spcAft>
                <a:spcPts val="500"/>
              </a:spcAft>
              <a:defRPr sz="950" b="0" i="0">
                <a:solidFill>
                  <a:srgbClr val="333333"/>
                </a:solidFill>
                <a:latin typeface="Calibri"/>
              </a:defRPr>
            </a:pPr>
            <a:r>
              <a:t>• Price competitiveness is not a binding factor—CCF rates are &lt;50% of market, yet users prefer commercial providers</a:t>
            </a:r>
          </a:p>
          <a:p>
            <a:pPr algn="l">
              <a:spcBef>
                <a:spcPts val="200"/>
              </a:spcBef>
              <a:spcAft>
                <a:spcPts val="200"/>
              </a:spcAft>
              <a:defRPr sz="950" b="0" i="0">
                <a:solidFill>
                  <a:srgbClr val="333333"/>
                </a:solidFill>
                <a:latin typeface="Calibri"/>
              </a:defRPr>
            </a:pPr>
            <a:r>
              <a:t>• Only 2–6 serious language-model players exist in the country; broader AI use cases need to be actively built</a:t>
            </a:r>
          </a:p>
        </p:txBody>
      </p:sp>
      <p:sp>
        <p:nvSpPr>
          <p:cNvPr id="24" name="Rounded Rectangle 23"/>
          <p:cNvSpPr/>
          <p:nvPr/>
        </p:nvSpPr>
        <p:spPr>
          <a:xfrm>
            <a:off x="8823960" y="3337560"/>
            <a:ext cx="3063240" cy="3063240"/>
          </a:xfrm>
          <a:prstGeom prst="roundRect">
            <a:avLst/>
          </a:prstGeom>
          <a:solidFill>
            <a:srgbClr val="EBF5FB"/>
          </a:solidFill>
          <a:ln>
            <a:solidFill>
              <a:srgbClr val="2E86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3429000"/>
            <a:ext cx="2743200" cy="320040"/>
          </a:xfrm>
          <a:prstGeom prst="rect">
            <a:avLst/>
          </a:prstGeom>
          <a:noFill/>
        </p:spPr>
        <p:txBody>
          <a:bodyPr wrap="square"/>
          <a:lstStyle/>
          <a:p>
            <a:pPr algn="l">
              <a:spcBef>
                <a:spcPts val="0"/>
              </a:spcBef>
              <a:spcAft>
                <a:spcPts val="0"/>
              </a:spcAft>
              <a:defRPr sz="1400" b="1" i="0">
                <a:solidFill>
                  <a:srgbClr val="0B1D3A"/>
                </a:solidFill>
                <a:latin typeface="Calibri"/>
              </a:defRPr>
            </a:pPr>
            <a:r>
              <a:t>Policy Recommendations</a:t>
            </a:r>
          </a:p>
        </p:txBody>
      </p:sp>
      <p:sp>
        <p:nvSpPr>
          <p:cNvPr id="26" name="TextBox 25"/>
          <p:cNvSpPr txBox="1"/>
          <p:nvPr/>
        </p:nvSpPr>
        <p:spPr>
          <a:xfrm>
            <a:off x="9006840" y="3840480"/>
            <a:ext cx="2743200" cy="2468880"/>
          </a:xfrm>
          <a:prstGeom prst="rect">
            <a:avLst/>
          </a:prstGeom>
          <a:noFill/>
        </p:spPr>
        <p:txBody>
          <a:bodyPr wrap="square"/>
          <a:lstStyle/>
          <a:p>
            <a:pPr algn="l">
              <a:spcBef>
                <a:spcPts val="0"/>
              </a:spcBef>
              <a:spcAft>
                <a:spcPts val="200"/>
              </a:spcAft>
              <a:defRPr sz="1100" b="1" i="0">
                <a:solidFill>
                  <a:srgbClr val="1E56A0"/>
                </a:solidFill>
                <a:latin typeface="Calibri"/>
              </a:defRPr>
            </a:pPr>
            <a:r>
              <a:t>1  Advance Government Procurement</a:t>
            </a:r>
          </a:p>
          <a:p>
            <a:pPr algn="l">
              <a:spcBef>
                <a:spcPts val="0"/>
              </a:spcBef>
              <a:spcAft>
                <a:spcPts val="800"/>
              </a:spcAft>
              <a:defRPr sz="950" b="0" i="0">
                <a:solidFill>
                  <a:srgbClr val="333333"/>
                </a:solidFill>
                <a:latin typeface="Calibri"/>
              </a:defRPr>
            </a:pPr>
            <a:r>
              <a:t>Pre-commit to procuring AI solutions in priority public-sector domains (e.g., OCR of legacy records, multilingual interfaces, forecasting) to credibly signal downstream demand.</a:t>
            </a:r>
          </a:p>
          <a:p>
            <a:pPr algn="l">
              <a:spcBef>
                <a:spcPts val="0"/>
              </a:spcBef>
              <a:spcAft>
                <a:spcPts val="200"/>
              </a:spcAft>
              <a:defRPr sz="1100" b="1" i="0">
                <a:solidFill>
                  <a:srgbClr val="1E56A0"/>
                </a:solidFill>
                <a:latin typeface="Calibri"/>
              </a:defRPr>
            </a:pPr>
            <a:r>
              <a:t>2  Time-Bound GPU Provisioning</a:t>
            </a:r>
          </a:p>
          <a:p>
            <a:pPr algn="l">
              <a:spcBef>
                <a:spcPts val="0"/>
              </a:spcBef>
              <a:spcAft>
                <a:spcPts val="200"/>
              </a:spcAft>
              <a:defRPr sz="950" b="0" i="0">
                <a:solidFill>
                  <a:srgbClr val="333333"/>
                </a:solidFill>
                <a:latin typeface="Calibri"/>
              </a:defRPr>
            </a:pPr>
            <a:r>
              <a:t>Introduce clear, publicly stated service-level guarantees for compute delivery after approval, with automatic escalation mechanisms if timelines are breached.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3657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144000" cy="502920"/>
          </a:xfrm>
          <a:prstGeom prst="rect">
            <a:avLst/>
          </a:prstGeom>
          <a:noFill/>
        </p:spPr>
        <p:txBody>
          <a:bodyPr wrap="square"/>
          <a:lstStyle/>
          <a:p>
            <a:pPr algn="l">
              <a:spcBef>
                <a:spcPts val="0"/>
              </a:spcBef>
              <a:spcAft>
                <a:spcPts val="0"/>
              </a:spcAft>
              <a:defRPr sz="2200" b="1" i="0">
                <a:solidFill>
                  <a:srgbClr val="FFFFFF"/>
                </a:solidFill>
                <a:latin typeface="Calibri"/>
              </a:defRPr>
            </a:pPr>
            <a:r>
              <a:t>Context &amp; Importance of the Problem</a:t>
            </a:r>
          </a:p>
        </p:txBody>
      </p:sp>
      <p:sp>
        <p:nvSpPr>
          <p:cNvPr id="5" name="TextBox 4"/>
          <p:cNvSpPr txBox="1"/>
          <p:nvPr/>
        </p:nvSpPr>
        <p:spPr>
          <a:xfrm>
            <a:off x="10972800" y="182880"/>
            <a:ext cx="914400" cy="365760"/>
          </a:xfrm>
          <a:prstGeom prst="rect">
            <a:avLst/>
          </a:prstGeom>
          <a:noFill/>
        </p:spPr>
        <p:txBody>
          <a:bodyPr wrap="square"/>
          <a:lstStyle/>
          <a:p>
            <a:pPr algn="r">
              <a:spcBef>
                <a:spcPts val="0"/>
              </a:spcBef>
              <a:spcAft>
                <a:spcPts val="0"/>
              </a:spcAft>
              <a:defRPr sz="1400" b="1" i="0">
                <a:solidFill>
                  <a:srgbClr val="FF9933"/>
                </a:solidFill>
                <a:latin typeface="Calibri"/>
              </a:defRPr>
            </a:pPr>
            <a:r>
              <a:t>2</a:t>
            </a:r>
          </a:p>
        </p:txBody>
      </p:sp>
      <p:sp>
        <p:nvSpPr>
          <p:cNvPr id="6" name="TextBox 5"/>
          <p:cNvSpPr txBox="1"/>
          <p:nvPr/>
        </p:nvSpPr>
        <p:spPr>
          <a:xfrm>
            <a:off x="457200" y="1051560"/>
            <a:ext cx="5486400" cy="320040"/>
          </a:xfrm>
          <a:prstGeom prst="rect">
            <a:avLst/>
          </a:prstGeom>
          <a:noFill/>
        </p:spPr>
        <p:txBody>
          <a:bodyPr wrap="square"/>
          <a:lstStyle/>
          <a:p>
            <a:pPr algn="l">
              <a:spcBef>
                <a:spcPts val="0"/>
              </a:spcBef>
              <a:spcAft>
                <a:spcPts val="0"/>
              </a:spcAft>
              <a:defRPr sz="1600" b="1" i="0">
                <a:solidFill>
                  <a:srgbClr val="0B1D3A"/>
                </a:solidFill>
                <a:latin typeface="Calibri"/>
              </a:defRPr>
            </a:pPr>
            <a:r>
              <a:t>The Policy Puzzle</a:t>
            </a:r>
          </a:p>
        </p:txBody>
      </p:sp>
      <p:sp>
        <p:nvSpPr>
          <p:cNvPr id="7" name="Rounded Rectangle 6"/>
          <p:cNvSpPr/>
          <p:nvPr/>
        </p:nvSpPr>
        <p:spPr>
          <a:xfrm>
            <a:off x="457200" y="1417320"/>
            <a:ext cx="5486400" cy="594360"/>
          </a:xfrm>
          <a:prstGeom prst="roundRect">
            <a:avLst/>
          </a:prstGeom>
          <a:solidFill>
            <a:srgbClr val="FFF3E0"/>
          </a:solidFill>
          <a:ln>
            <a:solidFill>
              <a:srgbClr val="E86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463040"/>
            <a:ext cx="5212080" cy="502920"/>
          </a:xfrm>
          <a:prstGeom prst="rect">
            <a:avLst/>
          </a:prstGeom>
          <a:noFill/>
        </p:spPr>
        <p:txBody>
          <a:bodyPr wrap="square"/>
          <a:lstStyle/>
          <a:p>
            <a:pPr algn="l">
              <a:spcBef>
                <a:spcPts val="0"/>
              </a:spcBef>
              <a:spcAft>
                <a:spcPts val="0"/>
              </a:spcAft>
              <a:defRPr sz="1100" b="1" i="1">
                <a:solidFill>
                  <a:srgbClr val="333333"/>
                </a:solidFill>
                <a:latin typeface="Calibri"/>
              </a:defRPr>
            </a:pPr>
            <a:r>
              <a:t>How can IndiaAI increase utilization of CCF in support of the broader objective of stimulating India’s AI innovation ecosystem?</a:t>
            </a:r>
          </a:p>
        </p:txBody>
      </p:sp>
      <p:sp>
        <p:nvSpPr>
          <p:cNvPr id="9" name="TextBox 8"/>
          <p:cNvSpPr txBox="1"/>
          <p:nvPr/>
        </p:nvSpPr>
        <p:spPr>
          <a:xfrm>
            <a:off x="457200" y="2194560"/>
            <a:ext cx="5486400" cy="4389120"/>
          </a:xfrm>
          <a:prstGeom prst="rect">
            <a:avLst/>
          </a:prstGeom>
          <a:noFill/>
        </p:spPr>
        <p:txBody>
          <a:bodyPr wrap="square"/>
          <a:lstStyle/>
          <a:p>
            <a:pPr algn="l">
              <a:spcBef>
                <a:spcPts val="0"/>
              </a:spcBef>
              <a:spcAft>
                <a:spcPts val="400"/>
              </a:spcAft>
              <a:defRPr sz="1300" b="1" i="0">
                <a:solidFill>
                  <a:srgbClr val="142D5E"/>
                </a:solidFill>
                <a:latin typeface="Calibri"/>
              </a:defRPr>
            </a:pPr>
            <a:r>
              <a:t>IndiaAI Mission &amp; Common Compute Facility</a:t>
            </a:r>
          </a:p>
          <a:p>
            <a:pPr algn="l">
              <a:spcBef>
                <a:spcPts val="200"/>
              </a:spcBef>
              <a:spcAft>
                <a:spcPts val="400"/>
              </a:spcAft>
              <a:defRPr sz="1000" b="0" i="0">
                <a:solidFill>
                  <a:srgbClr val="333333"/>
                </a:solidFill>
                <a:latin typeface="Calibri"/>
              </a:defRPr>
            </a:pPr>
            <a:r>
              <a:t>• The IndiaAI Mission, housed under MeitY, was launched in March 2024 with INR 10,371 crore ($1.25B) over five years to catalyze AI innovation in India.</a:t>
            </a:r>
          </a:p>
          <a:p>
            <a:pPr algn="l">
              <a:spcBef>
                <a:spcPts val="200"/>
              </a:spcBef>
              <a:spcAft>
                <a:spcPts val="400"/>
              </a:spcAft>
              <a:defRPr sz="1000" b="0" i="0">
                <a:solidFill>
                  <a:srgbClr val="333333"/>
                </a:solidFill>
                <a:latin typeface="Calibri"/>
              </a:defRPr>
            </a:pPr>
            <a:r>
              <a:t>• The Common Compute Facility (CCF) is the Mission’s largest pillar, accounting for 44% of the total allocation ($550M). It empanels private data-center providers and offers subsidized GPU access to startups, researchers, and public institutions.</a:t>
            </a:r>
          </a:p>
          <a:p>
            <a:pPr algn="l">
              <a:spcBef>
                <a:spcPts val="200"/>
              </a:spcBef>
              <a:spcAft>
                <a:spcPts val="800"/>
              </a:spcAft>
              <a:defRPr sz="1000" b="0" i="0">
                <a:solidFill>
                  <a:srgbClr val="333333"/>
                </a:solidFill>
                <a:latin typeface="Calibri"/>
              </a:defRPr>
            </a:pPr>
            <a:r>
              <a:t>• By November 2025, CCF had empanelled 34,000+ GPUs but allocated less than 50% of monthly capacity — despite compute rates well below market prices.</a:t>
            </a:r>
          </a:p>
          <a:p>
            <a:pPr algn="l">
              <a:spcBef>
                <a:spcPts val="0"/>
              </a:spcBef>
              <a:spcAft>
                <a:spcPts val="400"/>
              </a:spcAft>
              <a:defRPr sz="1300" b="1" i="0">
                <a:solidFill>
                  <a:srgbClr val="142D5E"/>
                </a:solidFill>
                <a:latin typeface="Calibri"/>
              </a:defRPr>
            </a:pPr>
            <a:r>
              <a:t>Why This Matters</a:t>
            </a:r>
          </a:p>
          <a:p>
            <a:pPr algn="l">
              <a:spcBef>
                <a:spcPts val="200"/>
              </a:spcBef>
              <a:spcAft>
                <a:spcPts val="400"/>
              </a:spcAft>
              <a:defRPr sz="1000" b="0" i="0">
                <a:solidFill>
                  <a:srgbClr val="333333"/>
                </a:solidFill>
                <a:latin typeface="Calibri"/>
              </a:defRPr>
            </a:pPr>
            <a:r>
              <a:t>• Inflection point for tech leadership: India has strong technical talent and a vibrant startup ecosystem, but AI innovation is far more capital-intensive. India has only 5 compute regions vs. 22 in China and 26 in the US.</a:t>
            </a:r>
          </a:p>
          <a:p>
            <a:pPr algn="l">
              <a:spcBef>
                <a:spcPts val="200"/>
              </a:spcBef>
              <a:spcAft>
                <a:spcPts val="400"/>
              </a:spcAft>
              <a:defRPr sz="1000" b="0" i="0">
                <a:solidFill>
                  <a:srgbClr val="333333"/>
                </a:solidFill>
                <a:latin typeface="Calibri"/>
              </a:defRPr>
            </a:pPr>
            <a:r>
              <a:t>• Sovereign AI imperative: Chinese and US companies operate 90% of public cloud AI facilities globally. India is pursuing indigenous language models and government AI applications — requiring accessible domestic compute.</a:t>
            </a:r>
          </a:p>
          <a:p>
            <a:pPr algn="l">
              <a:spcBef>
                <a:spcPts val="200"/>
              </a:spcBef>
              <a:spcAft>
                <a:spcPts val="200"/>
              </a:spcAft>
              <a:defRPr sz="1000" b="0" i="0">
                <a:solidFill>
                  <a:srgbClr val="333333"/>
                </a:solidFill>
                <a:latin typeface="Calibri"/>
              </a:defRPr>
            </a:pPr>
            <a:r>
              <a:t>• Distributional equity: Without public intervention, well-capitalized organizations dominate. CCF aims to expand access for smaller startups, researchers, and academics — but only if utilized.</a:t>
            </a:r>
          </a:p>
        </p:txBody>
      </p:sp>
      <p:sp>
        <p:nvSpPr>
          <p:cNvPr id="10" name="TextBox 9"/>
          <p:cNvSpPr txBox="1"/>
          <p:nvPr/>
        </p:nvSpPr>
        <p:spPr>
          <a:xfrm>
            <a:off x="6263640" y="1051560"/>
            <a:ext cx="5486400" cy="320040"/>
          </a:xfrm>
          <a:prstGeom prst="rect">
            <a:avLst/>
          </a:prstGeom>
          <a:noFill/>
        </p:spPr>
        <p:txBody>
          <a:bodyPr wrap="square"/>
          <a:lstStyle/>
          <a:p>
            <a:pPr algn="l">
              <a:spcBef>
                <a:spcPts val="0"/>
              </a:spcBef>
              <a:spcAft>
                <a:spcPts val="0"/>
              </a:spcAft>
              <a:defRPr sz="1600" b="1" i="0">
                <a:solidFill>
                  <a:srgbClr val="0B1D3A"/>
                </a:solidFill>
                <a:latin typeface="Calibri"/>
              </a:defRPr>
            </a:pPr>
            <a:r>
              <a:t>How CCF Works</a:t>
            </a:r>
          </a:p>
        </p:txBody>
      </p:sp>
      <p:sp>
        <p:nvSpPr>
          <p:cNvPr id="11" name="TextBox 10"/>
          <p:cNvSpPr txBox="1"/>
          <p:nvPr/>
        </p:nvSpPr>
        <p:spPr>
          <a:xfrm>
            <a:off x="6263640" y="1417320"/>
            <a:ext cx="5486400" cy="1463040"/>
          </a:xfrm>
          <a:prstGeom prst="rect">
            <a:avLst/>
          </a:prstGeom>
          <a:noFill/>
        </p:spPr>
        <p:txBody>
          <a:bodyPr wrap="square"/>
          <a:lstStyle/>
          <a:p>
            <a:pPr algn="l">
              <a:spcBef>
                <a:spcPts val="0"/>
              </a:spcBef>
              <a:spcAft>
                <a:spcPts val="400"/>
              </a:spcAft>
              <a:defRPr sz="1000" b="0" i="0">
                <a:solidFill>
                  <a:srgbClr val="333333"/>
                </a:solidFill>
                <a:latin typeface="Calibri"/>
              </a:defRPr>
            </a:pPr>
            <a:r>
              <a:t>The government empanels private data-center operators through competitive bidding. GPUs remain privately owned; public funds are disbursed only when actually used. End users apply via the IndiaAI portal and receive subsidies of up to 40% of the bid price.</a:t>
            </a:r>
          </a:p>
          <a:p>
            <a:pPr algn="l">
              <a:spcBef>
                <a:spcPts val="0"/>
              </a:spcBef>
              <a:spcAft>
                <a:spcPts val="200"/>
              </a:spcAft>
              <a:defRPr sz="1000" b="0" i="0">
                <a:solidFill>
                  <a:srgbClr val="333333"/>
                </a:solidFill>
                <a:latin typeface="Calibri"/>
              </a:defRPr>
            </a:pPr>
            <a:r>
              <a:t>Target users: Foundation model developers, startups using open-source models, government departments deploying AI on sensitive datasets — actors who need their own compute, not just API access.</a:t>
            </a:r>
          </a:p>
        </p:txBody>
      </p:sp>
      <p:sp>
        <p:nvSpPr>
          <p:cNvPr id="12" name="Rectangle 11"/>
          <p:cNvSpPr/>
          <p:nvPr/>
        </p:nvSpPr>
        <p:spPr>
          <a:xfrm>
            <a:off x="6263640" y="3017520"/>
            <a:ext cx="5303520" cy="1554480"/>
          </a:xfrm>
          <a:prstGeom prst="rect">
            <a:avLst/>
          </a:prstGeom>
          <a:solidFill>
            <a:srgbClr val="F8F9FA"/>
          </a:solidFill>
          <a:ln w="19050">
            <a:solidFill>
              <a:srgbClr val="666666"/>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108960"/>
            <a:ext cx="5029200" cy="365760"/>
          </a:xfrm>
          <a:prstGeom prst="rect">
            <a:avLst/>
          </a:prstGeom>
          <a:noFill/>
        </p:spPr>
        <p:txBody>
          <a:bodyPr wrap="square"/>
          <a:lstStyle/>
          <a:p>
            <a:pPr algn="ctr">
              <a:spcBef>
                <a:spcPts val="0"/>
              </a:spcBef>
              <a:spcAft>
                <a:spcPts val="0"/>
              </a:spcAft>
              <a:defRPr sz="1100" b="1" i="0">
                <a:solidFill>
                  <a:srgbClr val="1E56A0"/>
                </a:solidFill>
                <a:latin typeface="Calibri"/>
              </a:defRPr>
            </a:pPr>
            <a:r>
              <a:t>[Figure: CCF Structure &amp; Flow of Compute]</a:t>
            </a:r>
          </a:p>
        </p:txBody>
      </p:sp>
      <p:sp>
        <p:nvSpPr>
          <p:cNvPr id="14" name="TextBox 13"/>
          <p:cNvSpPr txBox="1"/>
          <p:nvPr/>
        </p:nvSpPr>
        <p:spPr>
          <a:xfrm>
            <a:off x="6400800" y="3520440"/>
            <a:ext cx="5029200" cy="548640"/>
          </a:xfrm>
          <a:prstGeom prst="rect">
            <a:avLst/>
          </a:prstGeom>
          <a:noFill/>
        </p:spPr>
        <p:txBody>
          <a:bodyPr wrap="square"/>
          <a:lstStyle/>
          <a:p>
            <a:pPr algn="ctr">
              <a:spcBef>
                <a:spcPts val="0"/>
              </a:spcBef>
              <a:spcAft>
                <a:spcPts val="0"/>
              </a:spcAft>
              <a:defRPr sz="1000" b="0" i="1">
                <a:solidFill>
                  <a:srgbClr val="666666"/>
                </a:solidFill>
                <a:latin typeface="Calibri"/>
              </a:defRPr>
            </a:pPr>
            <a:r>
              <a:t>Insert diagram showing procurement → empanelment → allocation → end use flow</a:t>
            </a:r>
          </a:p>
        </p:txBody>
      </p:sp>
      <p:sp>
        <p:nvSpPr>
          <p:cNvPr id="15" name="Rectangle 14"/>
          <p:cNvSpPr/>
          <p:nvPr/>
        </p:nvSpPr>
        <p:spPr>
          <a:xfrm>
            <a:off x="6263640" y="4754880"/>
            <a:ext cx="5303520" cy="1554480"/>
          </a:xfrm>
          <a:prstGeom prst="rect">
            <a:avLst/>
          </a:prstGeom>
          <a:solidFill>
            <a:srgbClr val="F8F9FA"/>
          </a:solidFill>
          <a:ln w="19050">
            <a:solidFill>
              <a:srgbClr val="666666"/>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846320"/>
            <a:ext cx="5029200" cy="365760"/>
          </a:xfrm>
          <a:prstGeom prst="rect">
            <a:avLst/>
          </a:prstGeom>
          <a:noFill/>
        </p:spPr>
        <p:txBody>
          <a:bodyPr wrap="square"/>
          <a:lstStyle/>
          <a:p>
            <a:pPr algn="ctr">
              <a:spcBef>
                <a:spcPts val="0"/>
              </a:spcBef>
              <a:spcAft>
                <a:spcPts val="0"/>
              </a:spcAft>
              <a:defRPr sz="1100" b="1" i="0">
                <a:solidFill>
                  <a:srgbClr val="1E56A0"/>
                </a:solidFill>
                <a:latin typeface="Calibri"/>
              </a:defRPr>
            </a:pPr>
            <a:r>
              <a:t>[Figure: CCF GPU Allocation vs. Capacity]</a:t>
            </a:r>
          </a:p>
        </p:txBody>
      </p:sp>
      <p:sp>
        <p:nvSpPr>
          <p:cNvPr id="17" name="TextBox 16"/>
          <p:cNvSpPr txBox="1"/>
          <p:nvPr/>
        </p:nvSpPr>
        <p:spPr>
          <a:xfrm>
            <a:off x="6400800" y="5257800"/>
            <a:ext cx="5029200" cy="548640"/>
          </a:xfrm>
          <a:prstGeom prst="rect">
            <a:avLst/>
          </a:prstGeom>
          <a:noFill/>
        </p:spPr>
        <p:txBody>
          <a:bodyPr wrap="square"/>
          <a:lstStyle/>
          <a:p>
            <a:pPr algn="ctr">
              <a:spcBef>
                <a:spcPts val="0"/>
              </a:spcBef>
              <a:spcAft>
                <a:spcPts val="0"/>
              </a:spcAft>
              <a:defRPr sz="1000" b="0" i="1">
                <a:solidFill>
                  <a:srgbClr val="666666"/>
                </a:solidFill>
                <a:latin typeface="Calibri"/>
              </a:defRPr>
            </a:pPr>
            <a:r>
              <a:t>Insert chart showing empanelled capacity vs. actual utilization over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3657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144000" cy="502920"/>
          </a:xfrm>
          <a:prstGeom prst="rect">
            <a:avLst/>
          </a:prstGeom>
          <a:noFill/>
        </p:spPr>
        <p:txBody>
          <a:bodyPr wrap="square"/>
          <a:lstStyle/>
          <a:p>
            <a:pPr algn="l">
              <a:spcBef>
                <a:spcPts val="0"/>
              </a:spcBef>
              <a:spcAft>
                <a:spcPts val="0"/>
              </a:spcAft>
              <a:defRPr sz="2200" b="1" i="0">
                <a:solidFill>
                  <a:srgbClr val="FFFFFF"/>
                </a:solidFill>
                <a:latin typeface="Calibri"/>
              </a:defRPr>
            </a:pPr>
            <a:r>
              <a:t>Analysis &amp; Key Findings</a:t>
            </a:r>
          </a:p>
        </p:txBody>
      </p:sp>
      <p:sp>
        <p:nvSpPr>
          <p:cNvPr id="5" name="TextBox 4"/>
          <p:cNvSpPr txBox="1"/>
          <p:nvPr/>
        </p:nvSpPr>
        <p:spPr>
          <a:xfrm>
            <a:off x="10972800" y="182880"/>
            <a:ext cx="914400" cy="365760"/>
          </a:xfrm>
          <a:prstGeom prst="rect">
            <a:avLst/>
          </a:prstGeom>
          <a:noFill/>
        </p:spPr>
        <p:txBody>
          <a:bodyPr wrap="square"/>
          <a:lstStyle/>
          <a:p>
            <a:pPr algn="r">
              <a:spcBef>
                <a:spcPts val="0"/>
              </a:spcBef>
              <a:spcAft>
                <a:spcPts val="0"/>
              </a:spcAft>
              <a:defRPr sz="1400" b="1" i="0">
                <a:solidFill>
                  <a:srgbClr val="FF9933"/>
                </a:solidFill>
                <a:latin typeface="Calibri"/>
              </a:defRPr>
            </a:pPr>
            <a:r>
              <a:t>3</a:t>
            </a:r>
          </a:p>
        </p:txBody>
      </p:sp>
      <p:sp>
        <p:nvSpPr>
          <p:cNvPr id="6" name="TextBox 5"/>
          <p:cNvSpPr txBox="1"/>
          <p:nvPr/>
        </p:nvSpPr>
        <p:spPr>
          <a:xfrm>
            <a:off x="457200" y="1005840"/>
            <a:ext cx="11430000" cy="365760"/>
          </a:xfrm>
          <a:prstGeom prst="rect">
            <a:avLst/>
          </a:prstGeom>
          <a:noFill/>
        </p:spPr>
        <p:txBody>
          <a:bodyPr wrap="square"/>
          <a:lstStyle/>
          <a:p>
            <a:pPr algn="l">
              <a:spcBef>
                <a:spcPts val="0"/>
              </a:spcBef>
              <a:spcAft>
                <a:spcPts val="0"/>
              </a:spcAft>
              <a:defRPr sz="1000" b="0" i="1">
                <a:solidFill>
                  <a:srgbClr val="666666"/>
                </a:solidFill>
                <a:latin typeface="Calibri"/>
              </a:defRPr>
            </a:pPr>
            <a:r>
              <a:t>Based on 20+ stakeholder interviews across policymakers, data-center providers, end users, and industry researchers, complemented by administrative data and comparative policy analysis.</a:t>
            </a:r>
          </a:p>
        </p:txBody>
      </p:sp>
      <p:sp>
        <p:nvSpPr>
          <p:cNvPr id="7" name="Rounded Rectangle 6"/>
          <p:cNvSpPr/>
          <p:nvPr/>
        </p:nvSpPr>
        <p:spPr>
          <a:xfrm>
            <a:off x="457200" y="1508760"/>
            <a:ext cx="2697480" cy="2377440"/>
          </a:xfrm>
          <a:prstGeom prst="roundRect">
            <a:avLst/>
          </a:prstGeom>
          <a:solidFill>
            <a:srgbClr val="FFFFFF"/>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08760"/>
            <a:ext cx="2697480" cy="365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27048"/>
            <a:ext cx="2606040" cy="320040"/>
          </a:xfrm>
          <a:prstGeom prst="rect">
            <a:avLst/>
          </a:prstGeom>
          <a:noFill/>
        </p:spPr>
        <p:txBody>
          <a:bodyPr wrap="square"/>
          <a:lstStyle/>
          <a:p>
            <a:pPr algn="ctr">
              <a:spcBef>
                <a:spcPts val="0"/>
              </a:spcBef>
              <a:spcAft>
                <a:spcPts val="0"/>
              </a:spcAft>
              <a:defRPr sz="900" b="1" i="0">
                <a:solidFill>
                  <a:srgbClr val="FFFFFF"/>
                </a:solidFill>
                <a:latin typeface="Calibri"/>
              </a:defRPr>
            </a:pPr>
            <a:r>
              <a:t>BINDING CONSTRAINT</a:t>
            </a:r>
          </a:p>
        </p:txBody>
      </p:sp>
      <p:sp>
        <p:nvSpPr>
          <p:cNvPr id="10" name="TextBox 9"/>
          <p:cNvSpPr txBox="1"/>
          <p:nvPr/>
        </p:nvSpPr>
        <p:spPr>
          <a:xfrm>
            <a:off x="594360" y="1965960"/>
            <a:ext cx="2423160" cy="1828800"/>
          </a:xfrm>
          <a:prstGeom prst="rect">
            <a:avLst/>
          </a:prstGeom>
          <a:noFill/>
        </p:spPr>
        <p:txBody>
          <a:bodyPr wrap="square"/>
          <a:lstStyle/>
          <a:p>
            <a:pPr algn="l">
              <a:spcBef>
                <a:spcPts val="0"/>
              </a:spcBef>
              <a:spcAft>
                <a:spcPts val="500"/>
              </a:spcAft>
              <a:defRPr sz="1100" b="1" i="0">
                <a:solidFill>
                  <a:srgbClr val="142D5E"/>
                </a:solidFill>
                <a:latin typeface="Calibri"/>
              </a:defRPr>
            </a:pPr>
            <a:r>
              <a:t>Low Perceived Returns to AI Innovation</a:t>
            </a:r>
          </a:p>
          <a:p>
            <a:pPr algn="l">
              <a:spcBef>
                <a:spcPts val="200"/>
              </a:spcBef>
              <a:spcAft>
                <a:spcPts val="300"/>
              </a:spcAft>
              <a:defRPr sz="900" b="0" i="0">
                <a:solidFill>
                  <a:srgbClr val="333333"/>
                </a:solidFill>
                <a:latin typeface="Calibri"/>
              </a:defRPr>
            </a:pPr>
            <a:r>
              <a:t>• Target users do not view investing in AI through dedicated compute as value-generating</a:t>
            </a:r>
          </a:p>
          <a:p>
            <a:pPr algn="l">
              <a:spcBef>
                <a:spcPts val="200"/>
              </a:spcBef>
              <a:spcAft>
                <a:spcPts val="300"/>
              </a:spcAft>
              <a:defRPr sz="900" b="0" i="0">
                <a:solidFill>
                  <a:srgbClr val="333333"/>
                </a:solidFill>
                <a:latin typeface="Calibri"/>
              </a:defRPr>
            </a:pPr>
            <a:r>
              <a:t>• Ecosystem bifurcation: only 2–6 serious language-model players; most firms use AI via APIs</a:t>
            </a:r>
          </a:p>
          <a:p>
            <a:pPr algn="l">
              <a:spcBef>
                <a:spcPts val="200"/>
              </a:spcBef>
              <a:spcAft>
                <a:spcPts val="300"/>
              </a:spcAft>
              <a:defRPr sz="900" b="0" i="0">
                <a:solidFill>
                  <a:srgbClr val="333333"/>
                </a:solidFill>
                <a:latin typeface="Calibri"/>
              </a:defRPr>
            </a:pPr>
            <a:r>
              <a:t>• Uncertainty around monetization—not cost—is the key deterrent</a:t>
            </a:r>
          </a:p>
          <a:p>
            <a:pPr algn="l">
              <a:spcBef>
                <a:spcPts val="200"/>
              </a:spcBef>
              <a:spcAft>
                <a:spcPts val="200"/>
              </a:spcAft>
              <a:defRPr sz="900" b="0" i="0">
                <a:solidFill>
                  <a:srgbClr val="666666"/>
                </a:solidFill>
                <a:latin typeface="Calibri"/>
              </a:defRPr>
            </a:pPr>
            <a:r>
              <a:t>• “People still think CCF is only for language models” — data-center provider</a:t>
            </a:r>
          </a:p>
        </p:txBody>
      </p:sp>
      <p:sp>
        <p:nvSpPr>
          <p:cNvPr id="11" name="Rounded Rectangle 10"/>
          <p:cNvSpPr/>
          <p:nvPr/>
        </p:nvSpPr>
        <p:spPr>
          <a:xfrm>
            <a:off x="3337560" y="1508760"/>
            <a:ext cx="2697480" cy="2377440"/>
          </a:xfrm>
          <a:prstGeom prst="roundRect">
            <a:avLst/>
          </a:prstGeom>
          <a:solidFill>
            <a:srgbClr val="FFFFFF"/>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7560" y="1508760"/>
            <a:ext cx="2697480" cy="365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1527048"/>
            <a:ext cx="2606040" cy="320040"/>
          </a:xfrm>
          <a:prstGeom prst="rect">
            <a:avLst/>
          </a:prstGeom>
          <a:noFill/>
        </p:spPr>
        <p:txBody>
          <a:bodyPr wrap="square"/>
          <a:lstStyle/>
          <a:p>
            <a:pPr algn="ctr">
              <a:spcBef>
                <a:spcPts val="0"/>
              </a:spcBef>
              <a:spcAft>
                <a:spcPts val="0"/>
              </a:spcAft>
              <a:defRPr sz="900" b="1" i="0">
                <a:solidFill>
                  <a:srgbClr val="FFFFFF"/>
                </a:solidFill>
                <a:latin typeface="Calibri"/>
              </a:defRPr>
            </a:pPr>
            <a:r>
              <a:t>BINDING CONSTRAINT</a:t>
            </a:r>
          </a:p>
        </p:txBody>
      </p:sp>
      <p:sp>
        <p:nvSpPr>
          <p:cNvPr id="14" name="TextBox 13"/>
          <p:cNvSpPr txBox="1"/>
          <p:nvPr/>
        </p:nvSpPr>
        <p:spPr>
          <a:xfrm>
            <a:off x="3474720" y="1965960"/>
            <a:ext cx="2423160" cy="1828800"/>
          </a:xfrm>
          <a:prstGeom prst="rect">
            <a:avLst/>
          </a:prstGeom>
          <a:noFill/>
        </p:spPr>
        <p:txBody>
          <a:bodyPr wrap="square"/>
          <a:lstStyle/>
          <a:p>
            <a:pPr algn="l">
              <a:spcBef>
                <a:spcPts val="0"/>
              </a:spcBef>
              <a:spcAft>
                <a:spcPts val="500"/>
              </a:spcAft>
              <a:defRPr sz="1100" b="1" i="0">
                <a:solidFill>
                  <a:srgbClr val="142D5E"/>
                </a:solidFill>
                <a:latin typeface="Calibri"/>
              </a:defRPr>
            </a:pPr>
            <a:r>
              <a:t>Administrative Frictions in Access</a:t>
            </a:r>
          </a:p>
          <a:p>
            <a:pPr algn="l">
              <a:spcBef>
                <a:spcPts val="200"/>
              </a:spcBef>
              <a:spcAft>
                <a:spcPts val="300"/>
              </a:spcAft>
              <a:defRPr sz="900" b="0" i="0">
                <a:solidFill>
                  <a:srgbClr val="333333"/>
                </a:solidFill>
                <a:latin typeface="Calibri"/>
              </a:defRPr>
            </a:pPr>
            <a:r>
              <a:t>• Approved users wait extended periods before GPUs are provisioned</a:t>
            </a:r>
          </a:p>
          <a:p>
            <a:pPr algn="l">
              <a:spcBef>
                <a:spcPts val="200"/>
              </a:spcBef>
              <a:spcAft>
                <a:spcPts val="300"/>
              </a:spcAft>
              <a:defRPr sz="900" b="0" i="0">
                <a:solidFill>
                  <a:srgbClr val="333333"/>
                </a:solidFill>
                <a:latin typeface="Calibri"/>
              </a:defRPr>
            </a:pPr>
            <a:r>
              <a:t>• Private-sector users (especially startups) face longer, more uncertain timelines than public entities</a:t>
            </a:r>
          </a:p>
          <a:p>
            <a:pPr algn="l">
              <a:spcBef>
                <a:spcPts val="200"/>
              </a:spcBef>
              <a:spcAft>
                <a:spcPts val="300"/>
              </a:spcAft>
              <a:defRPr sz="900" b="0" i="0">
                <a:solidFill>
                  <a:srgbClr val="333333"/>
                </a:solidFill>
                <a:latin typeface="Calibri"/>
              </a:defRPr>
            </a:pPr>
            <a:r>
              <a:t>• Delays cause self-selection out of system— fewer than 200 portal registrations</a:t>
            </a:r>
          </a:p>
          <a:p>
            <a:pPr algn="l">
              <a:spcBef>
                <a:spcPts val="200"/>
              </a:spcBef>
              <a:spcAft>
                <a:spcPts val="200"/>
              </a:spcAft>
              <a:defRPr sz="900" b="0" i="0">
                <a:solidFill>
                  <a:srgbClr val="666666"/>
                </a:solidFill>
                <a:latin typeface="Calibri"/>
              </a:defRPr>
            </a:pPr>
            <a:r>
              <a:t>• “I had completely forgotten about the CCF approval” — startup founder</a:t>
            </a:r>
          </a:p>
        </p:txBody>
      </p:sp>
      <p:sp>
        <p:nvSpPr>
          <p:cNvPr id="15" name="Rounded Rectangle 14"/>
          <p:cNvSpPr/>
          <p:nvPr/>
        </p:nvSpPr>
        <p:spPr>
          <a:xfrm>
            <a:off x="6217920" y="1508760"/>
            <a:ext cx="2697480" cy="2377440"/>
          </a:xfrm>
          <a:prstGeom prst="roundRect">
            <a:avLst/>
          </a:prstGeom>
          <a:solidFill>
            <a:srgbClr val="FFFFFF"/>
          </a:solidFill>
          <a:ln>
            <a:solidFill>
              <a:srgbClr val="E86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508760"/>
            <a:ext cx="2697480" cy="365760"/>
          </a:xfrm>
          <a:prstGeom prst="rect">
            <a:avLst/>
          </a:prstGeom>
          <a:solidFill>
            <a:srgbClr val="E8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527048"/>
            <a:ext cx="2606040" cy="320040"/>
          </a:xfrm>
          <a:prstGeom prst="rect">
            <a:avLst/>
          </a:prstGeom>
          <a:noFill/>
        </p:spPr>
        <p:txBody>
          <a:bodyPr wrap="square"/>
          <a:lstStyle/>
          <a:p>
            <a:pPr algn="ctr">
              <a:spcBef>
                <a:spcPts val="0"/>
              </a:spcBef>
              <a:spcAft>
                <a:spcPts val="0"/>
              </a:spcAft>
              <a:defRPr sz="900" b="1" i="0">
                <a:solidFill>
                  <a:srgbClr val="FFFFFF"/>
                </a:solidFill>
                <a:latin typeface="Calibri"/>
              </a:defRPr>
            </a:pPr>
            <a:r>
              <a:t>ANCILLARY CONSTRAINT</a:t>
            </a:r>
          </a:p>
        </p:txBody>
      </p:sp>
      <p:sp>
        <p:nvSpPr>
          <p:cNvPr id="18" name="TextBox 17"/>
          <p:cNvSpPr txBox="1"/>
          <p:nvPr/>
        </p:nvSpPr>
        <p:spPr>
          <a:xfrm>
            <a:off x="6355080" y="1965960"/>
            <a:ext cx="2423160" cy="1828800"/>
          </a:xfrm>
          <a:prstGeom prst="rect">
            <a:avLst/>
          </a:prstGeom>
          <a:noFill/>
        </p:spPr>
        <p:txBody>
          <a:bodyPr wrap="square"/>
          <a:lstStyle/>
          <a:p>
            <a:pPr algn="l">
              <a:spcBef>
                <a:spcPts val="0"/>
              </a:spcBef>
              <a:spcAft>
                <a:spcPts val="500"/>
              </a:spcAft>
              <a:defRPr sz="1100" b="1" i="0">
                <a:solidFill>
                  <a:srgbClr val="142D5E"/>
                </a:solidFill>
                <a:latin typeface="Calibri"/>
              </a:defRPr>
            </a:pPr>
            <a:r>
              <a:t>Human Capital Gaps</a:t>
            </a:r>
          </a:p>
          <a:p>
            <a:pPr algn="l">
              <a:spcBef>
                <a:spcPts val="200"/>
              </a:spcBef>
              <a:spcAft>
                <a:spcPts val="300"/>
              </a:spcAft>
              <a:defRPr sz="900" b="0" i="0">
                <a:solidFill>
                  <a:srgbClr val="333333"/>
                </a:solidFill>
                <a:latin typeface="Calibri"/>
              </a:defRPr>
            </a:pPr>
            <a:r>
              <a:t>• Limited pool of professionals with GPU-intensive model experience</a:t>
            </a:r>
          </a:p>
          <a:p>
            <a:pPr algn="l">
              <a:spcBef>
                <a:spcPts val="200"/>
              </a:spcBef>
              <a:spcAft>
                <a:spcPts val="300"/>
              </a:spcAft>
              <a:defRPr sz="900" b="0" i="0">
                <a:solidFill>
                  <a:srgbClr val="333333"/>
                </a:solidFill>
                <a:latin typeface="Calibri"/>
              </a:defRPr>
            </a:pPr>
            <a:r>
              <a:t>• Amplifies binding constraints: orgs lacking expertise are less likely to pursue compute-intensive work</a:t>
            </a:r>
          </a:p>
          <a:p>
            <a:pPr algn="l">
              <a:spcBef>
                <a:spcPts val="200"/>
              </a:spcBef>
              <a:spcAft>
                <a:spcPts val="300"/>
              </a:spcAft>
              <a:defRPr sz="900" b="0" i="0">
                <a:solidFill>
                  <a:srgbClr val="333333"/>
                </a:solidFill>
                <a:latin typeface="Calibri"/>
              </a:defRPr>
            </a:pPr>
            <a:r>
              <a:t>• Low public R&amp;D spending constrains advanced research training</a:t>
            </a:r>
          </a:p>
          <a:p>
            <a:pPr algn="l">
              <a:spcBef>
                <a:spcPts val="200"/>
              </a:spcBef>
              <a:spcAft>
                <a:spcPts val="200"/>
              </a:spcAft>
              <a:defRPr sz="900" b="0" i="0">
                <a:solidFill>
                  <a:srgbClr val="333333"/>
                </a:solidFill>
                <a:latin typeface="Calibri"/>
              </a:defRPr>
            </a:pPr>
            <a:r>
              <a:t>• May become more salient as utilization grows</a:t>
            </a:r>
          </a:p>
        </p:txBody>
      </p:sp>
      <p:sp>
        <p:nvSpPr>
          <p:cNvPr id="19" name="Rounded Rectangle 18"/>
          <p:cNvSpPr/>
          <p:nvPr/>
        </p:nvSpPr>
        <p:spPr>
          <a:xfrm>
            <a:off x="9098280" y="1508760"/>
            <a:ext cx="2697480" cy="2377440"/>
          </a:xfrm>
          <a:prstGeom prst="roundRect">
            <a:avLst/>
          </a:prstGeom>
          <a:solidFill>
            <a:srgbClr val="FFFFFF"/>
          </a:solidFill>
          <a:ln>
            <a:solidFill>
              <a:srgbClr val="27A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98280" y="1508760"/>
            <a:ext cx="2697480" cy="36576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1527048"/>
            <a:ext cx="2606040" cy="320040"/>
          </a:xfrm>
          <a:prstGeom prst="rect">
            <a:avLst/>
          </a:prstGeom>
          <a:noFill/>
        </p:spPr>
        <p:txBody>
          <a:bodyPr wrap="square"/>
          <a:lstStyle/>
          <a:p>
            <a:pPr algn="ctr">
              <a:spcBef>
                <a:spcPts val="0"/>
              </a:spcBef>
              <a:spcAft>
                <a:spcPts val="0"/>
              </a:spcAft>
              <a:defRPr sz="900" b="1" i="0">
                <a:solidFill>
                  <a:srgbClr val="FFFFFF"/>
                </a:solidFill>
                <a:latin typeface="Calibri"/>
              </a:defRPr>
            </a:pPr>
            <a:r>
              <a:t>NON-BINDING</a:t>
            </a:r>
          </a:p>
        </p:txBody>
      </p:sp>
      <p:sp>
        <p:nvSpPr>
          <p:cNvPr id="22" name="TextBox 21"/>
          <p:cNvSpPr txBox="1"/>
          <p:nvPr/>
        </p:nvSpPr>
        <p:spPr>
          <a:xfrm>
            <a:off x="9235440" y="1965960"/>
            <a:ext cx="2423160" cy="1828800"/>
          </a:xfrm>
          <a:prstGeom prst="rect">
            <a:avLst/>
          </a:prstGeom>
          <a:noFill/>
        </p:spPr>
        <p:txBody>
          <a:bodyPr wrap="square"/>
          <a:lstStyle/>
          <a:p>
            <a:pPr algn="l">
              <a:spcBef>
                <a:spcPts val="0"/>
              </a:spcBef>
              <a:spcAft>
                <a:spcPts val="500"/>
              </a:spcAft>
              <a:defRPr sz="1100" b="1" i="0">
                <a:solidFill>
                  <a:srgbClr val="142D5E"/>
                </a:solidFill>
                <a:latin typeface="Calibri"/>
              </a:defRPr>
            </a:pPr>
            <a:r>
              <a:t>Price &amp; Infrastructure</a:t>
            </a:r>
          </a:p>
          <a:p>
            <a:pPr algn="l">
              <a:spcBef>
                <a:spcPts val="200"/>
              </a:spcBef>
              <a:spcAft>
                <a:spcPts val="300"/>
              </a:spcAft>
              <a:defRPr sz="900" b="0" i="0">
                <a:solidFill>
                  <a:srgbClr val="333333"/>
                </a:solidFill>
                <a:latin typeface="Calibri"/>
              </a:defRPr>
            </a:pPr>
            <a:r>
              <a:t>• CCF costs &lt;50% of market rates — yet users prefer commercial providers for non-price reasons</a:t>
            </a:r>
          </a:p>
          <a:p>
            <a:pPr algn="l">
              <a:spcBef>
                <a:spcPts val="200"/>
              </a:spcBef>
              <a:spcAft>
                <a:spcPts val="300"/>
              </a:spcAft>
              <a:defRPr sz="900" b="0" i="0">
                <a:solidFill>
                  <a:srgbClr val="333333"/>
                </a:solidFill>
                <a:latin typeface="Calibri"/>
              </a:defRPr>
            </a:pPr>
            <a:r>
              <a:t>• Further price reductions unlikely to drive uptake</a:t>
            </a:r>
          </a:p>
          <a:p>
            <a:pPr algn="l">
              <a:spcBef>
                <a:spcPts val="200"/>
              </a:spcBef>
              <a:spcAft>
                <a:spcPts val="300"/>
              </a:spcAft>
              <a:defRPr sz="900" b="0" i="0">
                <a:solidFill>
                  <a:srgbClr val="333333"/>
                </a:solidFill>
                <a:latin typeface="Calibri"/>
              </a:defRPr>
            </a:pPr>
            <a:r>
              <a:t>• CCF provides latest GPUs (incl. H100s); infrastructure mismatch not an issue at current utilization</a:t>
            </a:r>
          </a:p>
          <a:p>
            <a:pPr algn="l">
              <a:spcBef>
                <a:spcPts val="200"/>
              </a:spcBef>
              <a:spcAft>
                <a:spcPts val="200"/>
              </a:spcAft>
              <a:defRPr sz="900" b="0" i="0">
                <a:solidFill>
                  <a:srgbClr val="333333"/>
                </a:solidFill>
                <a:latin typeface="Calibri"/>
              </a:defRPr>
            </a:pPr>
            <a:r>
              <a:t>• GPUs are identical to those from private providers</a:t>
            </a:r>
          </a:p>
        </p:txBody>
      </p:sp>
      <p:sp>
        <p:nvSpPr>
          <p:cNvPr id="23" name="Rectangle 22"/>
          <p:cNvSpPr/>
          <p:nvPr/>
        </p:nvSpPr>
        <p:spPr>
          <a:xfrm>
            <a:off x="457200" y="4160520"/>
            <a:ext cx="3566160" cy="2331720"/>
          </a:xfrm>
          <a:prstGeom prst="rect">
            <a:avLst/>
          </a:prstGeom>
          <a:solidFill>
            <a:srgbClr val="F8F9FA"/>
          </a:solidFill>
          <a:ln w="19050">
            <a:solidFill>
              <a:srgbClr val="666666"/>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251960"/>
            <a:ext cx="3291840" cy="365760"/>
          </a:xfrm>
          <a:prstGeom prst="rect">
            <a:avLst/>
          </a:prstGeom>
          <a:noFill/>
        </p:spPr>
        <p:txBody>
          <a:bodyPr wrap="square"/>
          <a:lstStyle/>
          <a:p>
            <a:pPr algn="ctr">
              <a:spcBef>
                <a:spcPts val="0"/>
              </a:spcBef>
              <a:spcAft>
                <a:spcPts val="0"/>
              </a:spcAft>
              <a:defRPr sz="1100" b="1" i="0">
                <a:solidFill>
                  <a:srgbClr val="1E56A0"/>
                </a:solidFill>
                <a:latin typeface="Calibri"/>
              </a:defRPr>
            </a:pPr>
            <a:r>
              <a:t>[Figure: Fishbone / Constraint Decomposition]</a:t>
            </a:r>
          </a:p>
        </p:txBody>
      </p:sp>
      <p:sp>
        <p:nvSpPr>
          <p:cNvPr id="25" name="TextBox 24"/>
          <p:cNvSpPr txBox="1"/>
          <p:nvPr/>
        </p:nvSpPr>
        <p:spPr>
          <a:xfrm>
            <a:off x="594360" y="5052060"/>
            <a:ext cx="3291840" cy="548640"/>
          </a:xfrm>
          <a:prstGeom prst="rect">
            <a:avLst/>
          </a:prstGeom>
          <a:noFill/>
        </p:spPr>
        <p:txBody>
          <a:bodyPr wrap="square"/>
          <a:lstStyle/>
          <a:p>
            <a:pPr algn="ctr">
              <a:spcBef>
                <a:spcPts val="0"/>
              </a:spcBef>
              <a:spcAft>
                <a:spcPts val="0"/>
              </a:spcAft>
              <a:defRPr sz="1000" b="0" i="1">
                <a:solidFill>
                  <a:srgbClr val="666666"/>
                </a:solidFill>
                <a:latin typeface="Calibri"/>
              </a:defRPr>
            </a:pPr>
            <a:r>
              <a:t>Insert fishbone diagram showing demand- and supply-side</a:t>
            </a:r>
            <a:br/>
            <a:r>
              <a:t>factors driving underutilization</a:t>
            </a:r>
          </a:p>
        </p:txBody>
      </p:sp>
      <p:sp>
        <p:nvSpPr>
          <p:cNvPr id="26" name="Rectangle 25"/>
          <p:cNvSpPr/>
          <p:nvPr/>
        </p:nvSpPr>
        <p:spPr>
          <a:xfrm>
            <a:off x="4251960" y="4160520"/>
            <a:ext cx="3566160" cy="2331720"/>
          </a:xfrm>
          <a:prstGeom prst="rect">
            <a:avLst/>
          </a:prstGeom>
          <a:solidFill>
            <a:srgbClr val="F8F9FA"/>
          </a:solidFill>
          <a:ln w="19050">
            <a:solidFill>
              <a:srgbClr val="666666"/>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0" y="4251960"/>
            <a:ext cx="3291840" cy="365760"/>
          </a:xfrm>
          <a:prstGeom prst="rect">
            <a:avLst/>
          </a:prstGeom>
          <a:noFill/>
        </p:spPr>
        <p:txBody>
          <a:bodyPr wrap="square"/>
          <a:lstStyle/>
          <a:p>
            <a:pPr algn="ctr">
              <a:spcBef>
                <a:spcPts val="0"/>
              </a:spcBef>
              <a:spcAft>
                <a:spcPts val="0"/>
              </a:spcAft>
              <a:defRPr sz="1100" b="1" i="0">
                <a:solidFill>
                  <a:srgbClr val="1E56A0"/>
                </a:solidFill>
                <a:latin typeface="Calibri"/>
              </a:defRPr>
            </a:pPr>
            <a:r>
              <a:t>[Figure: Constraint Evaluation Matrix]</a:t>
            </a:r>
          </a:p>
        </p:txBody>
      </p:sp>
      <p:sp>
        <p:nvSpPr>
          <p:cNvPr id="28" name="TextBox 27"/>
          <p:cNvSpPr txBox="1"/>
          <p:nvPr/>
        </p:nvSpPr>
        <p:spPr>
          <a:xfrm>
            <a:off x="4389120" y="5052060"/>
            <a:ext cx="3291840" cy="548640"/>
          </a:xfrm>
          <a:prstGeom prst="rect">
            <a:avLst/>
          </a:prstGeom>
          <a:noFill/>
        </p:spPr>
        <p:txBody>
          <a:bodyPr wrap="square"/>
          <a:lstStyle/>
          <a:p>
            <a:pPr algn="ctr">
              <a:spcBef>
                <a:spcPts val="0"/>
              </a:spcBef>
              <a:spcAft>
                <a:spcPts val="0"/>
              </a:spcAft>
              <a:defRPr sz="1000" b="0" i="1">
                <a:solidFill>
                  <a:srgbClr val="666666"/>
                </a:solidFill>
                <a:latin typeface="Calibri"/>
              </a:defRPr>
            </a:pPr>
            <a:r>
              <a:t>Insert matrix rating each constraint as</a:t>
            </a:r>
            <a:br/>
            <a:r>
              <a:t>binding / ancillary / non-binding</a:t>
            </a:r>
          </a:p>
        </p:txBody>
      </p:sp>
      <p:sp>
        <p:nvSpPr>
          <p:cNvPr id="29" name="Rectangle 28"/>
          <p:cNvSpPr/>
          <p:nvPr/>
        </p:nvSpPr>
        <p:spPr>
          <a:xfrm>
            <a:off x="8046720" y="4160520"/>
            <a:ext cx="3840480" cy="2331720"/>
          </a:xfrm>
          <a:prstGeom prst="rect">
            <a:avLst/>
          </a:prstGeom>
          <a:solidFill>
            <a:srgbClr val="F8F9FA"/>
          </a:solidFill>
          <a:ln w="19050">
            <a:solidFill>
              <a:srgbClr val="666666"/>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80" y="4251960"/>
            <a:ext cx="3566160" cy="365760"/>
          </a:xfrm>
          <a:prstGeom prst="rect">
            <a:avLst/>
          </a:prstGeom>
          <a:noFill/>
        </p:spPr>
        <p:txBody>
          <a:bodyPr wrap="square"/>
          <a:lstStyle/>
          <a:p>
            <a:pPr algn="ctr">
              <a:spcBef>
                <a:spcPts val="0"/>
              </a:spcBef>
              <a:spcAft>
                <a:spcPts val="0"/>
              </a:spcAft>
              <a:defRPr sz="1100" b="1" i="0">
                <a:solidFill>
                  <a:srgbClr val="1E56A0"/>
                </a:solidFill>
                <a:latin typeface="Calibri"/>
              </a:defRPr>
            </a:pPr>
            <a:r>
              <a:t>[Figure: End User Allocation &amp; Subsidy Distribution]</a:t>
            </a:r>
          </a:p>
        </p:txBody>
      </p:sp>
      <p:sp>
        <p:nvSpPr>
          <p:cNvPr id="31" name="TextBox 30"/>
          <p:cNvSpPr txBox="1"/>
          <p:nvPr/>
        </p:nvSpPr>
        <p:spPr>
          <a:xfrm>
            <a:off x="8183880" y="5052060"/>
            <a:ext cx="3566160" cy="548640"/>
          </a:xfrm>
          <a:prstGeom prst="rect">
            <a:avLst/>
          </a:prstGeom>
          <a:noFill/>
        </p:spPr>
        <p:txBody>
          <a:bodyPr wrap="square"/>
          <a:lstStyle/>
          <a:p>
            <a:pPr algn="ctr">
              <a:spcBef>
                <a:spcPts val="0"/>
              </a:spcBef>
              <a:spcAft>
                <a:spcPts val="0"/>
              </a:spcAft>
              <a:defRPr sz="1000" b="0" i="1">
                <a:solidFill>
                  <a:srgbClr val="666666"/>
                </a:solidFill>
                <a:latin typeface="Calibri"/>
              </a:defRPr>
            </a:pPr>
            <a:r>
              <a:t>Insert chart showing user categories, allocation sizes,</a:t>
            </a:r>
            <a:br/>
            <a:r>
              <a:t>and subsidy distribution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B1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91695" cy="3657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144000" cy="502920"/>
          </a:xfrm>
          <a:prstGeom prst="rect">
            <a:avLst/>
          </a:prstGeom>
          <a:noFill/>
        </p:spPr>
        <p:txBody>
          <a:bodyPr wrap="square"/>
          <a:lstStyle/>
          <a:p>
            <a:pPr algn="l">
              <a:spcBef>
                <a:spcPts val="0"/>
              </a:spcBef>
              <a:spcAft>
                <a:spcPts val="0"/>
              </a:spcAft>
              <a:defRPr sz="2200" b="1" i="0">
                <a:solidFill>
                  <a:srgbClr val="FFFFFF"/>
                </a:solidFill>
                <a:latin typeface="Calibri"/>
              </a:defRPr>
            </a:pPr>
            <a:r>
              <a:t>Policy Recommendations &amp; Implementation</a:t>
            </a:r>
          </a:p>
        </p:txBody>
      </p:sp>
      <p:sp>
        <p:nvSpPr>
          <p:cNvPr id="5" name="TextBox 4"/>
          <p:cNvSpPr txBox="1"/>
          <p:nvPr/>
        </p:nvSpPr>
        <p:spPr>
          <a:xfrm>
            <a:off x="10972800" y="182880"/>
            <a:ext cx="914400" cy="365760"/>
          </a:xfrm>
          <a:prstGeom prst="rect">
            <a:avLst/>
          </a:prstGeom>
          <a:noFill/>
        </p:spPr>
        <p:txBody>
          <a:bodyPr wrap="square"/>
          <a:lstStyle/>
          <a:p>
            <a:pPr algn="r">
              <a:spcBef>
                <a:spcPts val="0"/>
              </a:spcBef>
              <a:spcAft>
                <a:spcPts val="0"/>
              </a:spcAft>
              <a:defRPr sz="1400" b="1" i="0">
                <a:solidFill>
                  <a:srgbClr val="FF9933"/>
                </a:solidFill>
                <a:latin typeface="Calibri"/>
              </a:defRPr>
            </a:pPr>
            <a:r>
              <a:t>4</a:t>
            </a:r>
          </a:p>
        </p:txBody>
      </p:sp>
      <p:sp>
        <p:nvSpPr>
          <p:cNvPr id="6" name="Rounded Rectangle 5"/>
          <p:cNvSpPr/>
          <p:nvPr/>
        </p:nvSpPr>
        <p:spPr>
          <a:xfrm>
            <a:off x="457200" y="1051560"/>
            <a:ext cx="5577840" cy="502920"/>
          </a:xfrm>
          <a:prstGeom prst="roundRect">
            <a:avLst/>
          </a:prstGeom>
          <a:solidFill>
            <a:srgbClr val="1E5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97280"/>
            <a:ext cx="5303520" cy="411480"/>
          </a:xfrm>
          <a:prstGeom prst="rect">
            <a:avLst/>
          </a:prstGeom>
          <a:noFill/>
        </p:spPr>
        <p:txBody>
          <a:bodyPr wrap="square"/>
          <a:lstStyle/>
          <a:p>
            <a:pPr algn="l">
              <a:spcBef>
                <a:spcPts val="0"/>
              </a:spcBef>
              <a:spcAft>
                <a:spcPts val="0"/>
              </a:spcAft>
              <a:defRPr sz="1400" b="1" i="0">
                <a:solidFill>
                  <a:srgbClr val="FFFFFF"/>
                </a:solidFill>
                <a:latin typeface="Calibri"/>
              </a:defRPr>
            </a:pPr>
            <a:r>
              <a:t>1  Advance Government Procurement in Priority Domains</a:t>
            </a:r>
          </a:p>
        </p:txBody>
      </p:sp>
      <p:sp>
        <p:nvSpPr>
          <p:cNvPr id="8" name="TextBox 7"/>
          <p:cNvSpPr txBox="1"/>
          <p:nvPr/>
        </p:nvSpPr>
        <p:spPr>
          <a:xfrm>
            <a:off x="457200" y="1645920"/>
            <a:ext cx="5577840" cy="274320"/>
          </a:xfrm>
          <a:prstGeom prst="rect">
            <a:avLst/>
          </a:prstGeom>
          <a:noFill/>
        </p:spPr>
        <p:txBody>
          <a:bodyPr wrap="square"/>
          <a:lstStyle/>
          <a:p>
            <a:pPr algn="l">
              <a:spcBef>
                <a:spcPts val="0"/>
              </a:spcBef>
              <a:spcAft>
                <a:spcPts val="0"/>
              </a:spcAft>
              <a:defRPr sz="1000" b="1" i="1">
                <a:solidFill>
                  <a:srgbClr val="C0392B"/>
                </a:solidFill>
                <a:latin typeface="Calibri"/>
              </a:defRPr>
            </a:pPr>
            <a:r>
              <a:t>Addresses: Low Perceived Returns to AI Innovation</a:t>
            </a:r>
          </a:p>
        </p:txBody>
      </p:sp>
      <p:sp>
        <p:nvSpPr>
          <p:cNvPr id="9" name="TextBox 8"/>
          <p:cNvSpPr txBox="1"/>
          <p:nvPr/>
        </p:nvSpPr>
        <p:spPr>
          <a:xfrm>
            <a:off x="457200" y="1965960"/>
            <a:ext cx="5577840" cy="1828800"/>
          </a:xfrm>
          <a:prstGeom prst="rect">
            <a:avLst/>
          </a:prstGeom>
          <a:noFill/>
        </p:spPr>
        <p:txBody>
          <a:bodyPr wrap="square"/>
          <a:lstStyle/>
          <a:p>
            <a:pPr algn="l">
              <a:spcBef>
                <a:spcPts val="0"/>
              </a:spcBef>
              <a:spcAft>
                <a:spcPts val="600"/>
              </a:spcAft>
              <a:defRPr sz="1050" b="0" i="0">
                <a:solidFill>
                  <a:srgbClr val="333333"/>
                </a:solidFill>
                <a:latin typeface="Calibri"/>
              </a:defRPr>
            </a:pPr>
            <a:r>
              <a:t>The Government of India should pre-commit to procuring AI solutions in a limited set of high-priority public-sector domains. An advance market commitment (AMC) would credibly signal downstream demand, reducing uncertainty around market access for compute-intensive innovators.</a:t>
            </a:r>
          </a:p>
          <a:p>
            <a:pPr algn="l">
              <a:spcBef>
                <a:spcPts val="0"/>
              </a:spcBef>
              <a:spcAft>
                <a:spcPts val="300"/>
              </a:spcAft>
              <a:defRPr sz="1050" b="1" i="0">
                <a:solidFill>
                  <a:srgbClr val="142D5E"/>
                </a:solidFill>
                <a:latin typeface="Calibri"/>
              </a:defRPr>
            </a:pPr>
            <a:r>
              <a:t>Priority Use Cases:</a:t>
            </a:r>
          </a:p>
          <a:p>
            <a:pPr algn="l">
              <a:spcBef>
                <a:spcPts val="200"/>
              </a:spcBef>
              <a:spcAft>
                <a:spcPts val="200"/>
              </a:spcAft>
              <a:defRPr sz="1000" b="0" i="0">
                <a:solidFill>
                  <a:srgbClr val="333333"/>
                </a:solidFill>
                <a:latin typeface="Calibri"/>
              </a:defRPr>
            </a:pPr>
            <a:r>
              <a:t>• OCR of legacy government records</a:t>
            </a:r>
          </a:p>
          <a:p>
            <a:pPr algn="l">
              <a:spcBef>
                <a:spcPts val="200"/>
              </a:spcBef>
              <a:spcAft>
                <a:spcPts val="200"/>
              </a:spcAft>
              <a:defRPr sz="1000" b="0" i="0">
                <a:solidFill>
                  <a:srgbClr val="333333"/>
                </a:solidFill>
                <a:latin typeface="Calibri"/>
              </a:defRPr>
            </a:pPr>
            <a:r>
              <a:t>• Multilingual citizen-facing interfaces</a:t>
            </a:r>
          </a:p>
          <a:p>
            <a:pPr algn="l">
              <a:spcBef>
                <a:spcPts val="200"/>
              </a:spcBef>
              <a:spcAft>
                <a:spcPts val="500"/>
              </a:spcAft>
              <a:defRPr sz="1000" b="0" i="0">
                <a:solidFill>
                  <a:srgbClr val="333333"/>
                </a:solidFill>
                <a:latin typeface="Calibri"/>
              </a:defRPr>
            </a:pPr>
            <a:r>
              <a:t>• Forecasting for statistics, weather, and public service delivery</a:t>
            </a:r>
          </a:p>
          <a:p>
            <a:pPr algn="l">
              <a:spcBef>
                <a:spcPts val="0"/>
              </a:spcBef>
              <a:spcAft>
                <a:spcPts val="200"/>
              </a:spcAft>
              <a:defRPr sz="950" b="0" i="1">
                <a:solidFill>
                  <a:srgbClr val="666666"/>
                </a:solidFill>
                <a:latin typeface="Calibri"/>
              </a:defRPr>
            </a:pPr>
            <a:r>
              <a:t>Precedent: A $1.5B AMC for pneumococcal vaccines led to development of 3 vaccines for LMICs, demonstrating the power of demand-side commitments.</a:t>
            </a:r>
          </a:p>
        </p:txBody>
      </p:sp>
      <p:sp>
        <p:nvSpPr>
          <p:cNvPr id="10" name="Rounded Rectangle 9"/>
          <p:cNvSpPr/>
          <p:nvPr/>
        </p:nvSpPr>
        <p:spPr>
          <a:xfrm>
            <a:off x="457200" y="3931920"/>
            <a:ext cx="5577840" cy="2194560"/>
          </a:xfrm>
          <a:prstGeom prst="roundRect">
            <a:avLst/>
          </a:prstGeom>
          <a:solidFill>
            <a:srgbClr val="F8F9FA"/>
          </a:solidFill>
          <a:ln>
            <a:solidFill>
              <a:srgbClr val="1E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977639"/>
            <a:ext cx="2743200" cy="320040"/>
          </a:xfrm>
          <a:prstGeom prst="rect">
            <a:avLst/>
          </a:prstGeom>
          <a:noFill/>
        </p:spPr>
        <p:txBody>
          <a:bodyPr wrap="square"/>
          <a:lstStyle/>
          <a:p>
            <a:pPr algn="l">
              <a:spcBef>
                <a:spcPts val="0"/>
              </a:spcBef>
              <a:spcAft>
                <a:spcPts val="0"/>
              </a:spcAft>
              <a:defRPr sz="1100" b="1" i="0">
                <a:solidFill>
                  <a:srgbClr val="1E56A0"/>
                </a:solidFill>
                <a:latin typeface="Calibri"/>
              </a:defRPr>
            </a:pPr>
            <a:r>
              <a:t>Implementation Steps</a:t>
            </a:r>
          </a:p>
        </p:txBody>
      </p:sp>
      <p:sp>
        <p:nvSpPr>
          <p:cNvPr id="12" name="TextBox 11"/>
          <p:cNvSpPr txBox="1"/>
          <p:nvPr/>
        </p:nvSpPr>
        <p:spPr>
          <a:xfrm>
            <a:off x="594360" y="4297680"/>
            <a:ext cx="5303520" cy="1737360"/>
          </a:xfrm>
          <a:prstGeom prst="rect">
            <a:avLst/>
          </a:prstGeom>
          <a:noFill/>
        </p:spPr>
        <p:txBody>
          <a:bodyPr wrap="square"/>
          <a:lstStyle/>
          <a:p>
            <a:pPr algn="l">
              <a:spcBef>
                <a:spcPts val="0"/>
              </a:spcBef>
              <a:spcAft>
                <a:spcPts val="100"/>
              </a:spcAft>
              <a:defRPr sz="1000" b="1" i="0">
                <a:solidFill>
                  <a:srgbClr val="142D5E"/>
                </a:solidFill>
                <a:latin typeface="Calibri"/>
              </a:defRPr>
            </a:pPr>
            <a:r>
              <a:t>Step 1: Identify Priority Use Cases</a:t>
            </a:r>
          </a:p>
          <a:p>
            <a:pPr algn="l">
              <a:spcBef>
                <a:spcPts val="0"/>
              </a:spcBef>
              <a:spcAft>
                <a:spcPts val="500"/>
              </a:spcAft>
              <a:defRPr sz="950" b="0" i="0">
                <a:solidFill>
                  <a:srgbClr val="333333"/>
                </a:solidFill>
                <a:latin typeface="Calibri"/>
              </a:defRPr>
            </a:pPr>
            <a:r>
              <a:t>Select public-sector problem areas with clear AI applicability and measurable outputs.</a:t>
            </a:r>
          </a:p>
          <a:p>
            <a:pPr algn="l">
              <a:spcBef>
                <a:spcPts val="0"/>
              </a:spcBef>
              <a:spcAft>
                <a:spcPts val="100"/>
              </a:spcAft>
              <a:defRPr sz="1000" b="1" i="0">
                <a:solidFill>
                  <a:srgbClr val="142D5E"/>
                </a:solidFill>
                <a:latin typeface="Calibri"/>
              </a:defRPr>
            </a:pPr>
            <a:r>
              <a:t>Step 2: Define AMC Terms &amp; Performance Criteria</a:t>
            </a:r>
          </a:p>
          <a:p>
            <a:pPr algn="l">
              <a:spcBef>
                <a:spcPts val="0"/>
              </a:spcBef>
              <a:spcAft>
                <a:spcPts val="500"/>
              </a:spcAft>
              <a:defRPr sz="950" b="0" i="0">
                <a:solidFill>
                  <a:srgbClr val="333333"/>
                </a:solidFill>
                <a:latin typeface="Calibri"/>
              </a:defRPr>
            </a:pPr>
            <a:r>
              <a:t>For each use case, issue an AMC specifying minimum performance standards and procurement conditions.</a:t>
            </a:r>
          </a:p>
          <a:p>
            <a:pPr algn="l">
              <a:spcBef>
                <a:spcPts val="0"/>
              </a:spcBef>
              <a:spcAft>
                <a:spcPts val="100"/>
              </a:spcAft>
              <a:defRPr sz="1000" b="1" i="0">
                <a:solidFill>
                  <a:srgbClr val="142D5E"/>
                </a:solidFill>
                <a:latin typeface="Calibri"/>
              </a:defRPr>
            </a:pPr>
            <a:r>
              <a:t>Step 3: Award Contracts &amp; Monitor Outcomes</a:t>
            </a:r>
          </a:p>
          <a:p>
            <a:pPr algn="l">
              <a:spcBef>
                <a:spcPts val="0"/>
              </a:spcBef>
              <a:spcAft>
                <a:spcPts val="200"/>
              </a:spcAft>
              <a:defRPr sz="950" b="0" i="0">
                <a:solidFill>
                  <a:srgbClr val="333333"/>
                </a:solidFill>
                <a:latin typeface="Calibri"/>
              </a:defRPr>
            </a:pPr>
            <a:r>
              <a:t>Projects meeting thresholds receive longer-term procurement contracts. Ongoing monitoring tracks utilization patterns and need for adaptation.</a:t>
            </a:r>
          </a:p>
        </p:txBody>
      </p:sp>
      <p:sp>
        <p:nvSpPr>
          <p:cNvPr id="13" name="Rounded Rectangle 12"/>
          <p:cNvSpPr/>
          <p:nvPr/>
        </p:nvSpPr>
        <p:spPr>
          <a:xfrm>
            <a:off x="6263640" y="1051560"/>
            <a:ext cx="5577840" cy="502920"/>
          </a:xfrm>
          <a:prstGeom prst="roundRect">
            <a:avLst/>
          </a:prstGeom>
          <a:solidFill>
            <a:srgbClr val="1E5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097280"/>
            <a:ext cx="5303520" cy="411480"/>
          </a:xfrm>
          <a:prstGeom prst="rect">
            <a:avLst/>
          </a:prstGeom>
          <a:noFill/>
        </p:spPr>
        <p:txBody>
          <a:bodyPr wrap="square"/>
          <a:lstStyle/>
          <a:p>
            <a:pPr algn="l">
              <a:spcBef>
                <a:spcPts val="0"/>
              </a:spcBef>
              <a:spcAft>
                <a:spcPts val="0"/>
              </a:spcAft>
              <a:defRPr sz="1400" b="1" i="0">
                <a:solidFill>
                  <a:srgbClr val="FFFFFF"/>
                </a:solidFill>
                <a:latin typeface="Calibri"/>
              </a:defRPr>
            </a:pPr>
            <a:r>
              <a:t>2  Time-Bound GPU Provisioning Guarantees</a:t>
            </a:r>
          </a:p>
        </p:txBody>
      </p:sp>
      <p:sp>
        <p:nvSpPr>
          <p:cNvPr id="15" name="TextBox 14"/>
          <p:cNvSpPr txBox="1"/>
          <p:nvPr/>
        </p:nvSpPr>
        <p:spPr>
          <a:xfrm>
            <a:off x="6263640" y="1645920"/>
            <a:ext cx="5577840" cy="274320"/>
          </a:xfrm>
          <a:prstGeom prst="rect">
            <a:avLst/>
          </a:prstGeom>
          <a:noFill/>
        </p:spPr>
        <p:txBody>
          <a:bodyPr wrap="square"/>
          <a:lstStyle/>
          <a:p>
            <a:pPr algn="l">
              <a:spcBef>
                <a:spcPts val="0"/>
              </a:spcBef>
              <a:spcAft>
                <a:spcPts val="0"/>
              </a:spcAft>
              <a:defRPr sz="1000" b="1" i="1">
                <a:solidFill>
                  <a:srgbClr val="C0392B"/>
                </a:solidFill>
                <a:latin typeface="Calibri"/>
              </a:defRPr>
            </a:pPr>
            <a:r>
              <a:t>Addresses: Administrative Frictions in Access</a:t>
            </a:r>
          </a:p>
        </p:txBody>
      </p:sp>
      <p:sp>
        <p:nvSpPr>
          <p:cNvPr id="16" name="TextBox 15"/>
          <p:cNvSpPr txBox="1"/>
          <p:nvPr/>
        </p:nvSpPr>
        <p:spPr>
          <a:xfrm>
            <a:off x="6263640" y="1965960"/>
            <a:ext cx="5577840" cy="1828800"/>
          </a:xfrm>
          <a:prstGeom prst="rect">
            <a:avLst/>
          </a:prstGeom>
          <a:noFill/>
        </p:spPr>
        <p:txBody>
          <a:bodyPr wrap="square"/>
          <a:lstStyle/>
          <a:p>
            <a:pPr algn="l">
              <a:spcBef>
                <a:spcPts val="0"/>
              </a:spcBef>
              <a:spcAft>
                <a:spcPts val="600"/>
              </a:spcAft>
              <a:defRPr sz="1050" b="0" i="0">
                <a:solidFill>
                  <a:srgbClr val="333333"/>
                </a:solidFill>
                <a:latin typeface="Calibri"/>
              </a:defRPr>
            </a:pPr>
            <a:r>
              <a:t>IndiaAI Mission should introduce clear, publicly stated service-level guarantees for compute delivery after allocation approval. Provisioning within a fixed window, with automatic escalation or fallback if timelines are breached, would directly address the credibility problem depressing demand.</a:t>
            </a:r>
          </a:p>
          <a:p>
            <a:pPr algn="l">
              <a:spcBef>
                <a:spcPts val="0"/>
              </a:spcBef>
              <a:spcAft>
                <a:spcPts val="300"/>
              </a:spcAft>
              <a:defRPr sz="1050" b="1" i="0">
                <a:solidFill>
                  <a:srgbClr val="142D5E"/>
                </a:solidFill>
                <a:latin typeface="Calibri"/>
              </a:defRPr>
            </a:pPr>
            <a:r>
              <a:t>Expected Impact:</a:t>
            </a:r>
          </a:p>
          <a:p>
            <a:pPr algn="l">
              <a:spcBef>
                <a:spcPts val="200"/>
              </a:spcBef>
              <a:spcAft>
                <a:spcPts val="200"/>
              </a:spcAft>
              <a:defRPr sz="1000" b="0" i="0">
                <a:solidFill>
                  <a:srgbClr val="333333"/>
                </a:solidFill>
                <a:latin typeface="Calibri"/>
              </a:defRPr>
            </a:pPr>
            <a:r>
              <a:t>• Reduces execution risk for firms operating under tight development cycles</a:t>
            </a:r>
          </a:p>
          <a:p>
            <a:pPr algn="l">
              <a:spcBef>
                <a:spcPts val="200"/>
              </a:spcBef>
              <a:spcAft>
                <a:spcPts val="200"/>
              </a:spcAft>
              <a:defRPr sz="1000" b="0" i="0">
                <a:solidFill>
                  <a:srgbClr val="333333"/>
                </a:solidFill>
                <a:latin typeface="Calibri"/>
              </a:defRPr>
            </a:pPr>
            <a:r>
              <a:t>• Allows alignment of compute access with project timelines</a:t>
            </a:r>
          </a:p>
          <a:p>
            <a:pPr algn="l">
              <a:spcBef>
                <a:spcPts val="200"/>
              </a:spcBef>
              <a:spcAft>
                <a:spcPts val="500"/>
              </a:spcAft>
              <a:defRPr sz="1000" b="0" i="0">
                <a:solidFill>
                  <a:srgbClr val="333333"/>
                </a:solidFill>
                <a:latin typeface="Calibri"/>
              </a:defRPr>
            </a:pPr>
            <a:r>
              <a:t>• Raises expected returns to AI experimentation through CCF</a:t>
            </a:r>
          </a:p>
          <a:p>
            <a:pPr algn="l">
              <a:spcBef>
                <a:spcPts val="0"/>
              </a:spcBef>
              <a:spcAft>
                <a:spcPts val="200"/>
              </a:spcAft>
              <a:defRPr sz="950" b="0" i="1">
                <a:solidFill>
                  <a:srgbClr val="666666"/>
                </a:solidFill>
                <a:latin typeface="Calibri"/>
              </a:defRPr>
            </a:pPr>
            <a:r>
              <a:t>Interaction: Works in tandem with Rec. 1 — demand-side pull (AMC) is only effective if supply-side delivery is credible.</a:t>
            </a:r>
          </a:p>
        </p:txBody>
      </p:sp>
      <p:sp>
        <p:nvSpPr>
          <p:cNvPr id="17" name="Rounded Rectangle 16"/>
          <p:cNvSpPr/>
          <p:nvPr/>
        </p:nvSpPr>
        <p:spPr>
          <a:xfrm>
            <a:off x="6263640" y="3931920"/>
            <a:ext cx="5577840" cy="2194560"/>
          </a:xfrm>
          <a:prstGeom prst="roundRect">
            <a:avLst/>
          </a:prstGeom>
          <a:solidFill>
            <a:srgbClr val="F8F9FA"/>
          </a:solidFill>
          <a:ln>
            <a:solidFill>
              <a:srgbClr val="1E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977639"/>
            <a:ext cx="2743200" cy="320040"/>
          </a:xfrm>
          <a:prstGeom prst="rect">
            <a:avLst/>
          </a:prstGeom>
          <a:noFill/>
        </p:spPr>
        <p:txBody>
          <a:bodyPr wrap="square"/>
          <a:lstStyle/>
          <a:p>
            <a:pPr algn="l">
              <a:spcBef>
                <a:spcPts val="0"/>
              </a:spcBef>
              <a:spcAft>
                <a:spcPts val="0"/>
              </a:spcAft>
              <a:defRPr sz="1100" b="1" i="0">
                <a:solidFill>
                  <a:srgbClr val="1E56A0"/>
                </a:solidFill>
                <a:latin typeface="Calibri"/>
              </a:defRPr>
            </a:pPr>
            <a:r>
              <a:t>Implementation Steps</a:t>
            </a:r>
          </a:p>
        </p:txBody>
      </p:sp>
      <p:sp>
        <p:nvSpPr>
          <p:cNvPr id="19" name="TextBox 18"/>
          <p:cNvSpPr txBox="1"/>
          <p:nvPr/>
        </p:nvSpPr>
        <p:spPr>
          <a:xfrm>
            <a:off x="6400800" y="4297680"/>
            <a:ext cx="5303520" cy="1737360"/>
          </a:xfrm>
          <a:prstGeom prst="rect">
            <a:avLst/>
          </a:prstGeom>
          <a:noFill/>
        </p:spPr>
        <p:txBody>
          <a:bodyPr wrap="square"/>
          <a:lstStyle/>
          <a:p>
            <a:pPr algn="l">
              <a:spcBef>
                <a:spcPts val="0"/>
              </a:spcBef>
              <a:spcAft>
                <a:spcPts val="100"/>
              </a:spcAft>
              <a:defRPr sz="1000" b="1" i="0">
                <a:solidFill>
                  <a:srgbClr val="142D5E"/>
                </a:solidFill>
                <a:latin typeface="Calibri"/>
              </a:defRPr>
            </a:pPr>
            <a:r>
              <a:t>Step 1: Establish Service-Level Commitments</a:t>
            </a:r>
          </a:p>
          <a:p>
            <a:pPr algn="l">
              <a:spcBef>
                <a:spcPts val="0"/>
              </a:spcBef>
              <a:spcAft>
                <a:spcPts val="500"/>
              </a:spcAft>
              <a:defRPr sz="950" b="0" i="0">
                <a:solidFill>
                  <a:srgbClr val="333333"/>
                </a:solidFill>
                <a:latin typeface="Calibri"/>
              </a:defRPr>
            </a:pPr>
            <a:r>
              <a:t>Publicly commit to a fixed provisioning window (e.g., 2–4 weeks) for compute access following allocation approval.</a:t>
            </a:r>
          </a:p>
          <a:p>
            <a:pPr algn="l">
              <a:spcBef>
                <a:spcPts val="0"/>
              </a:spcBef>
              <a:spcAft>
                <a:spcPts val="100"/>
              </a:spcAft>
              <a:defRPr sz="1000" b="1" i="0">
                <a:solidFill>
                  <a:srgbClr val="142D5E"/>
                </a:solidFill>
                <a:latin typeface="Calibri"/>
              </a:defRPr>
            </a:pPr>
            <a:r>
              <a:t>Step 2: Create Escalation Mechanisms</a:t>
            </a:r>
          </a:p>
          <a:p>
            <a:pPr algn="l">
              <a:spcBef>
                <a:spcPts val="0"/>
              </a:spcBef>
              <a:spcAft>
                <a:spcPts val="500"/>
              </a:spcAft>
              <a:defRPr sz="950" b="0" i="0">
                <a:solidFill>
                  <a:srgbClr val="333333"/>
                </a:solidFill>
                <a:latin typeface="Calibri"/>
              </a:defRPr>
            </a:pPr>
            <a:r>
              <a:t>Automatic escalation protocols for breached timelines, including fallback allocation from alternative empanelled providers.</a:t>
            </a:r>
          </a:p>
          <a:p>
            <a:pPr algn="l">
              <a:spcBef>
                <a:spcPts val="0"/>
              </a:spcBef>
              <a:spcAft>
                <a:spcPts val="100"/>
              </a:spcAft>
              <a:defRPr sz="1000" b="1" i="0">
                <a:solidFill>
                  <a:srgbClr val="142D5E"/>
                </a:solidFill>
                <a:latin typeface="Calibri"/>
              </a:defRPr>
            </a:pPr>
            <a:r>
              <a:t>Step 3: Publish Performance Metrics</a:t>
            </a:r>
          </a:p>
          <a:p>
            <a:pPr algn="l">
              <a:spcBef>
                <a:spcPts val="0"/>
              </a:spcBef>
              <a:spcAft>
                <a:spcPts val="200"/>
              </a:spcAft>
              <a:defRPr sz="950" b="0" i="0">
                <a:solidFill>
                  <a:srgbClr val="333333"/>
                </a:solidFill>
                <a:latin typeface="Calibri"/>
              </a:defRPr>
            </a:pPr>
            <a:r>
              <a:t>Transparently report provisioning timelines to build public credibility and incentivize continuous improvement.</a:t>
            </a:r>
          </a:p>
        </p:txBody>
      </p:sp>
      <p:sp>
        <p:nvSpPr>
          <p:cNvPr id="20" name="Rectangle 19"/>
          <p:cNvSpPr/>
          <p:nvPr/>
        </p:nvSpPr>
        <p:spPr>
          <a:xfrm>
            <a:off x="457200" y="6263640"/>
            <a:ext cx="11430000" cy="411480"/>
          </a:xfrm>
          <a:prstGeom prst="rect">
            <a:avLst/>
          </a:prstGeom>
          <a:solidFill>
            <a:srgbClr val="D6EAF8"/>
          </a:solidFill>
          <a:ln>
            <a:solidFill>
              <a:srgbClr val="1E5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6291072"/>
            <a:ext cx="11155680" cy="347472"/>
          </a:xfrm>
          <a:prstGeom prst="rect">
            <a:avLst/>
          </a:prstGeom>
          <a:noFill/>
        </p:spPr>
        <p:txBody>
          <a:bodyPr wrap="square"/>
          <a:lstStyle/>
          <a:p>
            <a:pPr algn="ctr">
              <a:spcBef>
                <a:spcPts val="0"/>
              </a:spcBef>
              <a:spcAft>
                <a:spcPts val="0"/>
              </a:spcAft>
              <a:defRPr sz="1050" b="1" i="0">
                <a:solidFill>
                  <a:srgbClr val="142D5E"/>
                </a:solidFill>
                <a:latin typeface="Calibri"/>
              </a:defRPr>
            </a:pPr>
            <a:r>
              <a:t>Both recommendations rank favorably across three evaluative dimensions: Technical Correctness  |  Administrative Feasibility  |  Political Supportability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